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147477134" r:id="rId2"/>
    <p:sldId id="2147477183" r:id="rId3"/>
    <p:sldId id="2147477184" r:id="rId4"/>
    <p:sldId id="2147477185" r:id="rId5"/>
    <p:sldId id="2147477192" r:id="rId6"/>
    <p:sldId id="214747719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ABB5"/>
    <a:srgbClr val="D1DDE1"/>
    <a:srgbClr val="7699A6"/>
    <a:srgbClr val="435E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Grove" userId="0dc58ccd8943caae" providerId="LiveId" clId="{C98CFB22-B9DC-4C59-8C05-2718BBE8D9B2}"/>
    <pc:docChg chg="undo custSel addSld delSld modSld sldOrd delMainMaster modMainMaster">
      <pc:chgData name="Michael Grove" userId="0dc58ccd8943caae" providerId="LiveId" clId="{C98CFB22-B9DC-4C59-8C05-2718BBE8D9B2}" dt="2026-07-09T22:02:01.536" v="1119" actId="20577"/>
      <pc:docMkLst>
        <pc:docMk/>
      </pc:docMkLst>
      <pc:sldChg chg="modSp mod">
        <pc:chgData name="Michael Grove" userId="0dc58ccd8943caae" providerId="LiveId" clId="{C98CFB22-B9DC-4C59-8C05-2718BBE8D9B2}" dt="2026-07-09T22:02:01.536" v="1119" actId="20577"/>
        <pc:sldMkLst>
          <pc:docMk/>
          <pc:sldMk cId="2843578230" sldId="2147477134"/>
        </pc:sldMkLst>
        <pc:spChg chg="mod">
          <ac:chgData name="Michael Grove" userId="0dc58ccd8943caae" providerId="LiveId" clId="{C98CFB22-B9DC-4C59-8C05-2718BBE8D9B2}" dt="2026-07-09T22:02:01.536" v="1119" actId="20577"/>
          <ac:spMkLst>
            <pc:docMk/>
            <pc:sldMk cId="2843578230" sldId="2147477134"/>
            <ac:spMk id="470" creationId="{B65BBE03-033C-4A7F-A8B0-C603B64922B9}"/>
          </ac:spMkLst>
        </pc:spChg>
      </pc:sldChg>
      <pc:sldChg chg="del">
        <pc:chgData name="Michael Grove" userId="0dc58ccd8943caae" providerId="LiveId" clId="{C98CFB22-B9DC-4C59-8C05-2718BBE8D9B2}" dt="2026-07-09T22:01:04.157" v="1030" actId="47"/>
        <pc:sldMkLst>
          <pc:docMk/>
          <pc:sldMk cId="2365105257" sldId="2147477182"/>
        </pc:sldMkLst>
      </pc:sldChg>
      <pc:sldChg chg="ord">
        <pc:chgData name="Michael Grove" userId="0dc58ccd8943caae" providerId="LiveId" clId="{C98CFB22-B9DC-4C59-8C05-2718BBE8D9B2}" dt="2026-07-09T22:00:38.440" v="1029"/>
        <pc:sldMkLst>
          <pc:docMk/>
          <pc:sldMk cId="1445783929" sldId="2147477185"/>
        </pc:sldMkLst>
      </pc:sldChg>
      <pc:sldChg chg="ord">
        <pc:chgData name="Michael Grove" userId="0dc58ccd8943caae" providerId="LiveId" clId="{C98CFB22-B9DC-4C59-8C05-2718BBE8D9B2}" dt="2026-07-09T22:00:35.590" v="1027"/>
        <pc:sldMkLst>
          <pc:docMk/>
          <pc:sldMk cId="1511180729" sldId="2147477192"/>
        </pc:sldMkLst>
      </pc:sldChg>
      <pc:sldChg chg="addSp delSp modSp add mod">
        <pc:chgData name="Michael Grove" userId="0dc58ccd8943caae" providerId="LiveId" clId="{C98CFB22-B9DC-4C59-8C05-2718BBE8D9B2}" dt="2026-06-18T21:48:31.933" v="1025" actId="1076"/>
        <pc:sldMkLst>
          <pc:docMk/>
          <pc:sldMk cId="1596280947" sldId="2147477193"/>
        </pc:sldMkLst>
        <pc:spChg chg="add del mod">
          <ac:chgData name="Michael Grove" userId="0dc58ccd8943caae" providerId="LiveId" clId="{C98CFB22-B9DC-4C59-8C05-2718BBE8D9B2}" dt="2026-06-18T21:48:31.933" v="1025" actId="1076"/>
          <ac:spMkLst>
            <pc:docMk/>
            <pc:sldMk cId="1596280947" sldId="2147477193"/>
            <ac:spMk id="11" creationId="{BC979A7E-935D-F12A-988F-FB6B248C28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2A766-891A-4651-94DF-A4D33CA07607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C88A5-EACA-41C8-A9A1-E60C44F16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18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4D42C1F2-BDB6-CFC4-46E5-BEB85C5D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>
            <a:extLst>
              <a:ext uri="{FF2B5EF4-FFF2-40B4-BE49-F238E27FC236}">
                <a16:creationId xmlns:a16="http://schemas.microsoft.com/office/drawing/2014/main" id="{3FD69CD2-8BA8-D6B9-E600-6339130921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4" name="Google Shape;454;p9:notes">
            <a:extLst>
              <a:ext uri="{FF2B5EF4-FFF2-40B4-BE49-F238E27FC236}">
                <a16:creationId xmlns:a16="http://schemas.microsoft.com/office/drawing/2014/main" id="{4B10145F-274F-BB92-1F9E-F32690AE1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701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0D7A6163-AB40-2064-AA67-22645DD13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>
            <a:extLst>
              <a:ext uri="{FF2B5EF4-FFF2-40B4-BE49-F238E27FC236}">
                <a16:creationId xmlns:a16="http://schemas.microsoft.com/office/drawing/2014/main" id="{011F501E-97F0-FD60-9212-F8C4F46F9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4" name="Google Shape;454;p9:notes">
            <a:extLst>
              <a:ext uri="{FF2B5EF4-FFF2-40B4-BE49-F238E27FC236}">
                <a16:creationId xmlns:a16="http://schemas.microsoft.com/office/drawing/2014/main" id="{89475530-ECC9-D3AB-61E7-EFFEF1766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1423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EC92C14C-3590-BB9F-3E30-F21B5A2DA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>
            <a:extLst>
              <a:ext uri="{FF2B5EF4-FFF2-40B4-BE49-F238E27FC236}">
                <a16:creationId xmlns:a16="http://schemas.microsoft.com/office/drawing/2014/main" id="{05D89F6D-3F4F-E16F-D9B0-449A447A1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4" name="Google Shape;454;p9:notes">
            <a:extLst>
              <a:ext uri="{FF2B5EF4-FFF2-40B4-BE49-F238E27FC236}">
                <a16:creationId xmlns:a16="http://schemas.microsoft.com/office/drawing/2014/main" id="{AA61E1E9-FC7C-54A6-878D-60F6E9A295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6953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73E120E2-613C-70FA-56A2-BBC7981D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>
            <a:extLst>
              <a:ext uri="{FF2B5EF4-FFF2-40B4-BE49-F238E27FC236}">
                <a16:creationId xmlns:a16="http://schemas.microsoft.com/office/drawing/2014/main" id="{568142B1-2306-F48B-96F6-A46E0E9B95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4" name="Google Shape;454;p9:notes">
            <a:extLst>
              <a:ext uri="{FF2B5EF4-FFF2-40B4-BE49-F238E27FC236}">
                <a16:creationId xmlns:a16="http://schemas.microsoft.com/office/drawing/2014/main" id="{F627F2F2-1BAB-04F1-F13F-AFE6AB3008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7441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32B50805-3289-7F04-B140-0059E1A55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>
            <a:extLst>
              <a:ext uri="{FF2B5EF4-FFF2-40B4-BE49-F238E27FC236}">
                <a16:creationId xmlns:a16="http://schemas.microsoft.com/office/drawing/2014/main" id="{D95C1AAF-7295-C7D6-5BD8-B10891D04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4" name="Google Shape;454;p9:notes">
            <a:extLst>
              <a:ext uri="{FF2B5EF4-FFF2-40B4-BE49-F238E27FC236}">
                <a16:creationId xmlns:a16="http://schemas.microsoft.com/office/drawing/2014/main" id="{89C81DA5-2C01-CDDD-2F83-57D41D965E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9648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>
          <a:extLst>
            <a:ext uri="{FF2B5EF4-FFF2-40B4-BE49-F238E27FC236}">
              <a16:creationId xmlns:a16="http://schemas.microsoft.com/office/drawing/2014/main" id="{9124A9B6-58F9-2D39-557F-D9BF0147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>
            <a:extLst>
              <a:ext uri="{FF2B5EF4-FFF2-40B4-BE49-F238E27FC236}">
                <a16:creationId xmlns:a16="http://schemas.microsoft.com/office/drawing/2014/main" id="{33514131-323B-CF6D-55E4-CA96A43998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4" name="Google Shape;454;p9:notes">
            <a:extLst>
              <a:ext uri="{FF2B5EF4-FFF2-40B4-BE49-F238E27FC236}">
                <a16:creationId xmlns:a16="http://schemas.microsoft.com/office/drawing/2014/main" id="{7DE142AC-646F-A93B-AA18-040F4ABF09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8356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FD5C58-9C8E-3F01-EE49-888FFEA83F6E}"/>
              </a:ext>
            </a:extLst>
          </p:cNvPr>
          <p:cNvSpPr txBox="1"/>
          <p:nvPr userDrawn="1"/>
        </p:nvSpPr>
        <p:spPr>
          <a:xfrm>
            <a:off x="5248323" y="6628794"/>
            <a:ext cx="23230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/>
                </a:solidFill>
              </a:rPr>
              <a:t>HCL Proprietary and Copyright Reserved 2026</a:t>
            </a:r>
          </a:p>
        </p:txBody>
      </p:sp>
    </p:spTree>
    <p:extLst>
      <p:ext uri="{BB962C8B-B14F-4D97-AF65-F5344CB8AC3E}">
        <p14:creationId xmlns:p14="http://schemas.microsoft.com/office/powerpoint/2010/main" val="250935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83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0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87881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133"/>
            </a:lvl1pPr>
            <a:lvl2pPr marL="609630" lvl="1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1867"/>
            </a:lvl2pPr>
            <a:lvl3pPr marL="914446" lvl="2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3pPr>
            <a:lvl4pPr marL="1219261" lvl="3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4pPr>
            <a:lvl5pPr marL="1524076" lvl="4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333"/>
            </a:lvl5pPr>
            <a:lvl6pPr marL="1828891" lvl="5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6pPr>
            <a:lvl7pPr marL="2133707" lvl="6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7pPr>
            <a:lvl8pPr marL="2438522" lvl="7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8pPr>
            <a:lvl9pPr marL="2743337" lvl="8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7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1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1539346" y="-167745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24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3154892" y="1447801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51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8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21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45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3"/>
          <p:cNvSpPr txBox="1">
            <a:spLocks noGrp="1"/>
          </p:cNvSpPr>
          <p:nvPr>
            <p:ph type="title"/>
          </p:nvPr>
        </p:nvSpPr>
        <p:spPr>
          <a:xfrm>
            <a:off x="474225" y="-49060"/>
            <a:ext cx="11544216" cy="109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cxnSp>
        <p:nvCxnSpPr>
          <p:cNvPr id="25" name="Google Shape;25;p93"/>
          <p:cNvCxnSpPr/>
          <p:nvPr/>
        </p:nvCxnSpPr>
        <p:spPr>
          <a:xfrm rot="10800000" flipH="1">
            <a:off x="323889" y="854997"/>
            <a:ext cx="11544216" cy="26460"/>
          </a:xfrm>
          <a:prstGeom prst="straightConnector1">
            <a:avLst/>
          </a:prstGeom>
          <a:noFill/>
          <a:ln w="25400" cap="flat" cmpd="sng">
            <a:solidFill>
              <a:srgbClr val="1F81F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" name="Google Shape;26;p93" descr="A close up of a sign&#10;&#10;Description generated with very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3420" y="6407476"/>
            <a:ext cx="1656274" cy="4534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797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Nur Titel">
  <p:cSld name="2_Nur Titel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3a1bc6f4a4_0_139"/>
          <p:cNvSpPr txBox="1">
            <a:spLocks noGrp="1"/>
          </p:cNvSpPr>
          <p:nvPr>
            <p:ph type="title"/>
          </p:nvPr>
        </p:nvSpPr>
        <p:spPr>
          <a:xfrm>
            <a:off x="324043" y="212083"/>
            <a:ext cx="11543100" cy="6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g13a1bc6f4a4_0_139"/>
          <p:cNvCxnSpPr/>
          <p:nvPr/>
        </p:nvCxnSpPr>
        <p:spPr>
          <a:xfrm rot="10800000" flipH="1">
            <a:off x="323889" y="855057"/>
            <a:ext cx="11544300" cy="26400"/>
          </a:xfrm>
          <a:prstGeom prst="straightConnector1">
            <a:avLst/>
          </a:prstGeom>
          <a:noFill/>
          <a:ln w="25400" cap="flat" cmpd="sng">
            <a:solidFill>
              <a:srgbClr val="1F81F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g13a1bc6f4a4_0_139"/>
          <p:cNvSpPr txBox="1"/>
          <p:nvPr/>
        </p:nvSpPr>
        <p:spPr>
          <a:xfrm>
            <a:off x="324043" y="2057402"/>
            <a:ext cx="4979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81FB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9991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AE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7827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.xls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id="{A9B0C7ED-FE7B-36B7-0ED1-B069536AE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9">
            <a:extLst>
              <a:ext uri="{FF2B5EF4-FFF2-40B4-BE49-F238E27FC236}">
                <a16:creationId xmlns:a16="http://schemas.microsoft.com/office/drawing/2014/main" id="{BB8BD0C1-70ED-DDFB-A285-9116076CE3CC}"/>
              </a:ext>
            </a:extLst>
          </p:cNvPr>
          <p:cNvCxnSpPr/>
          <p:nvPr/>
        </p:nvCxnSpPr>
        <p:spPr>
          <a:xfrm>
            <a:off x="685800" y="685800"/>
            <a:ext cx="10820400" cy="0"/>
          </a:xfrm>
          <a:prstGeom prst="straightConnector1">
            <a:avLst/>
          </a:prstGeom>
          <a:noFill/>
          <a:ln w="9525" cap="flat" cmpd="sng">
            <a:solidFill>
              <a:srgbClr val="526E7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7" name="Google Shape;457;p9">
            <a:extLst>
              <a:ext uri="{FF2B5EF4-FFF2-40B4-BE49-F238E27FC236}">
                <a16:creationId xmlns:a16="http://schemas.microsoft.com/office/drawing/2014/main" id="{18B1535C-F43F-9345-2FC1-5304AAA2CD92}"/>
              </a:ext>
            </a:extLst>
          </p:cNvPr>
          <p:cNvGrpSpPr/>
          <p:nvPr/>
        </p:nvGrpSpPr>
        <p:grpSpPr>
          <a:xfrm>
            <a:off x="10998453" y="375840"/>
            <a:ext cx="507749" cy="169202"/>
            <a:chOff x="0" y="-84403"/>
            <a:chExt cx="1015497" cy="338403"/>
          </a:xfrm>
        </p:grpSpPr>
        <p:grpSp>
          <p:nvGrpSpPr>
            <p:cNvPr id="458" name="Google Shape;458;p9">
              <a:extLst>
                <a:ext uri="{FF2B5EF4-FFF2-40B4-BE49-F238E27FC236}">
                  <a16:creationId xmlns:a16="http://schemas.microsoft.com/office/drawing/2014/main" id="{2261A5BB-F864-F557-1694-4A7EC5B9F327}"/>
                </a:ext>
              </a:extLst>
            </p:cNvPr>
            <p:cNvGrpSpPr/>
            <p:nvPr/>
          </p:nvGrpSpPr>
          <p:grpSpPr>
            <a:xfrm>
              <a:off x="0" y="-84403"/>
              <a:ext cx="254000" cy="338403"/>
              <a:chOff x="0" y="-111436"/>
              <a:chExt cx="335351" cy="446787"/>
            </a:xfrm>
          </p:grpSpPr>
          <p:sp>
            <p:nvSpPr>
              <p:cNvPr id="459" name="Google Shape;459;p9">
                <a:extLst>
                  <a:ext uri="{FF2B5EF4-FFF2-40B4-BE49-F238E27FC236}">
                    <a16:creationId xmlns:a16="http://schemas.microsoft.com/office/drawing/2014/main" id="{65700115-7628-2C2F-C026-2AEFA6240498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9">
                <a:extLst>
                  <a:ext uri="{FF2B5EF4-FFF2-40B4-BE49-F238E27FC236}">
                    <a16:creationId xmlns:a16="http://schemas.microsoft.com/office/drawing/2014/main" id="{7C55C88A-8327-810F-10AD-A80A60CF2991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1" name="Google Shape;461;p9">
              <a:extLst>
                <a:ext uri="{FF2B5EF4-FFF2-40B4-BE49-F238E27FC236}">
                  <a16:creationId xmlns:a16="http://schemas.microsoft.com/office/drawing/2014/main" id="{73E64922-6021-20E0-4FFF-75975476010E}"/>
                </a:ext>
              </a:extLst>
            </p:cNvPr>
            <p:cNvGrpSpPr/>
            <p:nvPr/>
          </p:nvGrpSpPr>
          <p:grpSpPr>
            <a:xfrm>
              <a:off x="380497" y="-84403"/>
              <a:ext cx="254000" cy="338403"/>
              <a:chOff x="0" y="-111436"/>
              <a:chExt cx="335351" cy="446787"/>
            </a:xfrm>
          </p:grpSpPr>
          <p:sp>
            <p:nvSpPr>
              <p:cNvPr id="462" name="Google Shape;462;p9">
                <a:extLst>
                  <a:ext uri="{FF2B5EF4-FFF2-40B4-BE49-F238E27FC236}">
                    <a16:creationId xmlns:a16="http://schemas.microsoft.com/office/drawing/2014/main" id="{C7907679-E580-F3AD-C22D-0B3DB7AA9BEA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9">
                <a:extLst>
                  <a:ext uri="{FF2B5EF4-FFF2-40B4-BE49-F238E27FC236}">
                    <a16:creationId xmlns:a16="http://schemas.microsoft.com/office/drawing/2014/main" id="{4DBB70D0-06EE-ADA8-17AA-88C6D7BF50CC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9">
              <a:extLst>
                <a:ext uri="{FF2B5EF4-FFF2-40B4-BE49-F238E27FC236}">
                  <a16:creationId xmlns:a16="http://schemas.microsoft.com/office/drawing/2014/main" id="{032F1A49-F6CA-A75F-2391-1B825E05D464}"/>
                </a:ext>
              </a:extLst>
            </p:cNvPr>
            <p:cNvGrpSpPr/>
            <p:nvPr/>
          </p:nvGrpSpPr>
          <p:grpSpPr>
            <a:xfrm>
              <a:off x="761497" y="-84403"/>
              <a:ext cx="254000" cy="338403"/>
              <a:chOff x="0" y="-111436"/>
              <a:chExt cx="335351" cy="446787"/>
            </a:xfrm>
          </p:grpSpPr>
          <p:sp>
            <p:nvSpPr>
              <p:cNvPr id="465" name="Google Shape;465;p9">
                <a:extLst>
                  <a:ext uri="{FF2B5EF4-FFF2-40B4-BE49-F238E27FC236}">
                    <a16:creationId xmlns:a16="http://schemas.microsoft.com/office/drawing/2014/main" id="{188BDDB4-DC3E-3338-64FB-D945731AFC30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9">
                <a:extLst>
                  <a:ext uri="{FF2B5EF4-FFF2-40B4-BE49-F238E27FC236}">
                    <a16:creationId xmlns:a16="http://schemas.microsoft.com/office/drawing/2014/main" id="{9498644E-C5FC-F38C-A4DE-611538F536FD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7" name="Google Shape;467;p9">
            <a:extLst>
              <a:ext uri="{FF2B5EF4-FFF2-40B4-BE49-F238E27FC236}">
                <a16:creationId xmlns:a16="http://schemas.microsoft.com/office/drawing/2014/main" id="{C0B238B4-DCF4-128B-757B-21EC4F62C932}"/>
              </a:ext>
            </a:extLst>
          </p:cNvPr>
          <p:cNvGrpSpPr/>
          <p:nvPr/>
        </p:nvGrpSpPr>
        <p:grpSpPr>
          <a:xfrm rot="-3960000">
            <a:off x="9378311" y="655310"/>
            <a:ext cx="11430000" cy="10160000"/>
            <a:chOff x="0" y="0"/>
            <a:chExt cx="4447135" cy="3953009"/>
          </a:xfrm>
        </p:grpSpPr>
        <p:sp>
          <p:nvSpPr>
            <p:cNvPr id="468" name="Google Shape;468;p9">
              <a:extLst>
                <a:ext uri="{FF2B5EF4-FFF2-40B4-BE49-F238E27FC236}">
                  <a16:creationId xmlns:a16="http://schemas.microsoft.com/office/drawing/2014/main" id="{71766E68-A99B-AE96-EF8C-97F9BB2F50A4}"/>
                </a:ext>
              </a:extLst>
            </p:cNvPr>
            <p:cNvSpPr/>
            <p:nvPr/>
          </p:nvSpPr>
          <p:spPr>
            <a:xfrm>
              <a:off x="0" y="0"/>
              <a:ext cx="4447135" cy="3953009"/>
            </a:xfrm>
            <a:custGeom>
              <a:avLst/>
              <a:gdLst/>
              <a:ahLst/>
              <a:cxnLst/>
              <a:rect l="l" t="t" r="r" b="b"/>
              <a:pathLst>
                <a:path w="4447135" h="3953009" extrusionOk="0">
                  <a:moveTo>
                    <a:pt x="0" y="0"/>
                  </a:moveTo>
                  <a:lnTo>
                    <a:pt x="4447135" y="0"/>
                  </a:lnTo>
                  <a:lnTo>
                    <a:pt x="4447135" y="3953009"/>
                  </a:lnTo>
                  <a:lnTo>
                    <a:pt x="0" y="3953009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526E79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defTabSz="609630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9">
              <a:extLst>
                <a:ext uri="{FF2B5EF4-FFF2-40B4-BE49-F238E27FC236}">
                  <a16:creationId xmlns:a16="http://schemas.microsoft.com/office/drawing/2014/main" id="{D9673277-0309-9C36-B28B-71A363296ED9}"/>
                </a:ext>
              </a:extLst>
            </p:cNvPr>
            <p:cNvSpPr txBox="1"/>
            <p:nvPr/>
          </p:nvSpPr>
          <p:spPr>
            <a:xfrm>
              <a:off x="0" y="19050"/>
              <a:ext cx="4447135" cy="3933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 defTabSz="609630">
                <a:lnSpc>
                  <a:spcPct val="77055"/>
                </a:lnSpc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" name="Google Shape;470;p9">
            <a:extLst>
              <a:ext uri="{FF2B5EF4-FFF2-40B4-BE49-F238E27FC236}">
                <a16:creationId xmlns:a16="http://schemas.microsoft.com/office/drawing/2014/main" id="{B65BBE03-033C-4A7F-A8B0-C603B64922B9}"/>
              </a:ext>
            </a:extLst>
          </p:cNvPr>
          <p:cNvSpPr txBox="1"/>
          <p:nvPr/>
        </p:nvSpPr>
        <p:spPr>
          <a:xfrm>
            <a:off x="4079598" y="3050226"/>
            <a:ext cx="750276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>
              <a:lnSpc>
                <a:spcPct val="120000"/>
              </a:lnSpc>
              <a:buClr>
                <a:srgbClr val="000000"/>
              </a:buClr>
            </a:pPr>
            <a:r>
              <a:rPr lang="en-US" sz="2800" b="1" kern="0" dirty="0">
                <a:solidFill>
                  <a:srgbClr val="435E67"/>
                </a:solidFill>
                <a:latin typeface="Arial"/>
                <a:cs typeface="Arial"/>
                <a:sym typeface="Arial"/>
              </a:rPr>
              <a:t>Achieving P/L Acceleration via Talent+AI  </a:t>
            </a:r>
            <a:endParaRPr sz="28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71" name="Google Shape;471;p9">
            <a:extLst>
              <a:ext uri="{FF2B5EF4-FFF2-40B4-BE49-F238E27FC236}">
                <a16:creationId xmlns:a16="http://schemas.microsoft.com/office/drawing/2014/main" id="{F552316A-9D8A-B09C-E6E3-FFDB452C92B9}"/>
              </a:ext>
            </a:extLst>
          </p:cNvPr>
          <p:cNvSpPr/>
          <p:nvPr/>
        </p:nvSpPr>
        <p:spPr>
          <a:xfrm rot="2790752">
            <a:off x="11386716" y="1035634"/>
            <a:ext cx="1610568" cy="1524000"/>
          </a:xfrm>
          <a:custGeom>
            <a:avLst/>
            <a:gdLst/>
            <a:ahLst/>
            <a:cxnLst/>
            <a:rect l="l" t="t" r="r" b="b"/>
            <a:pathLst>
              <a:path w="2415852" h="2286000" extrusionOk="0">
                <a:moveTo>
                  <a:pt x="0" y="0"/>
                </a:moveTo>
                <a:lnTo>
                  <a:pt x="2415852" y="0"/>
                </a:lnTo>
                <a:lnTo>
                  <a:pt x="2415852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>
            <a:extLst>
              <a:ext uri="{FF2B5EF4-FFF2-40B4-BE49-F238E27FC236}">
                <a16:creationId xmlns:a16="http://schemas.microsoft.com/office/drawing/2014/main" id="{BDA38FD6-59C8-8E71-5092-1F627EC6FB27}"/>
              </a:ext>
            </a:extLst>
          </p:cNvPr>
          <p:cNvSpPr txBox="1"/>
          <p:nvPr/>
        </p:nvSpPr>
        <p:spPr>
          <a:xfrm>
            <a:off x="685801" y="336552"/>
            <a:ext cx="1656259" cy="287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>
              <a:lnSpc>
                <a:spcPct val="140000"/>
              </a:lnSpc>
              <a:buClr>
                <a:srgbClr val="000000"/>
              </a:buClr>
            </a:pPr>
            <a:r>
              <a:rPr lang="en-US" sz="1333" kern="0">
                <a:solidFill>
                  <a:srgbClr val="526E79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HumanCentric Labs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15" name="Google Shape;735;p21">
            <a:extLst>
              <a:ext uri="{FF2B5EF4-FFF2-40B4-BE49-F238E27FC236}">
                <a16:creationId xmlns:a16="http://schemas.microsoft.com/office/drawing/2014/main" id="{7E6082A1-2D27-3FC1-F447-A496220420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3081" y="2288394"/>
            <a:ext cx="2324859" cy="2382332"/>
          </a:xfrm>
          <a:prstGeom prst="rect">
            <a:avLst/>
          </a:prstGeom>
          <a:solidFill>
            <a:srgbClr val="EF8600"/>
          </a:solidFill>
          <a:ln>
            <a:noFill/>
          </a:ln>
        </p:spPr>
      </p:pic>
      <p:sp>
        <p:nvSpPr>
          <p:cNvPr id="2" name="Google Shape;470;p9">
            <a:extLst>
              <a:ext uri="{FF2B5EF4-FFF2-40B4-BE49-F238E27FC236}">
                <a16:creationId xmlns:a16="http://schemas.microsoft.com/office/drawing/2014/main" id="{0A40BB04-59E3-3FBD-F3FA-1846CE7B78FA}"/>
              </a:ext>
            </a:extLst>
          </p:cNvPr>
          <p:cNvSpPr txBox="1"/>
          <p:nvPr/>
        </p:nvSpPr>
        <p:spPr>
          <a:xfrm>
            <a:off x="2565510" y="5603207"/>
            <a:ext cx="69902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>
              <a:lnSpc>
                <a:spcPct val="12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  <a:sym typeface="Arial"/>
              </a:rPr>
              <a:t>Achieving the Highly Adaptable Organization </a:t>
            </a:r>
            <a:endParaRPr sz="2400" kern="0" dirty="0">
              <a:solidFill>
                <a:schemeClr val="accent6">
                  <a:lumMod val="75000"/>
                </a:scheme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357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id="{9B77FF04-A341-D0D9-7C24-E83F3DB4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9">
            <a:extLst>
              <a:ext uri="{FF2B5EF4-FFF2-40B4-BE49-F238E27FC236}">
                <a16:creationId xmlns:a16="http://schemas.microsoft.com/office/drawing/2014/main" id="{A7C98459-F4A2-E403-76AB-D82E67876419}"/>
              </a:ext>
            </a:extLst>
          </p:cNvPr>
          <p:cNvCxnSpPr/>
          <p:nvPr/>
        </p:nvCxnSpPr>
        <p:spPr>
          <a:xfrm>
            <a:off x="685800" y="685800"/>
            <a:ext cx="10820400" cy="0"/>
          </a:xfrm>
          <a:prstGeom prst="straightConnector1">
            <a:avLst/>
          </a:prstGeom>
          <a:noFill/>
          <a:ln w="9525" cap="flat" cmpd="sng">
            <a:solidFill>
              <a:srgbClr val="526E7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7" name="Google Shape;457;p9">
            <a:extLst>
              <a:ext uri="{FF2B5EF4-FFF2-40B4-BE49-F238E27FC236}">
                <a16:creationId xmlns:a16="http://schemas.microsoft.com/office/drawing/2014/main" id="{FE0DD275-9E98-9313-A325-6A9D0BE45D71}"/>
              </a:ext>
            </a:extLst>
          </p:cNvPr>
          <p:cNvGrpSpPr/>
          <p:nvPr/>
        </p:nvGrpSpPr>
        <p:grpSpPr>
          <a:xfrm>
            <a:off x="10998453" y="375840"/>
            <a:ext cx="507749" cy="169202"/>
            <a:chOff x="0" y="-84403"/>
            <a:chExt cx="1015497" cy="338403"/>
          </a:xfrm>
        </p:grpSpPr>
        <p:grpSp>
          <p:nvGrpSpPr>
            <p:cNvPr id="458" name="Google Shape;458;p9">
              <a:extLst>
                <a:ext uri="{FF2B5EF4-FFF2-40B4-BE49-F238E27FC236}">
                  <a16:creationId xmlns:a16="http://schemas.microsoft.com/office/drawing/2014/main" id="{C1EEBF75-882A-9339-EFE4-CABED1CD1EDA}"/>
                </a:ext>
              </a:extLst>
            </p:cNvPr>
            <p:cNvGrpSpPr/>
            <p:nvPr/>
          </p:nvGrpSpPr>
          <p:grpSpPr>
            <a:xfrm>
              <a:off x="0" y="-84403"/>
              <a:ext cx="254000" cy="338403"/>
              <a:chOff x="0" y="-111436"/>
              <a:chExt cx="335351" cy="446787"/>
            </a:xfrm>
          </p:grpSpPr>
          <p:sp>
            <p:nvSpPr>
              <p:cNvPr id="459" name="Google Shape;459;p9">
                <a:extLst>
                  <a:ext uri="{FF2B5EF4-FFF2-40B4-BE49-F238E27FC236}">
                    <a16:creationId xmlns:a16="http://schemas.microsoft.com/office/drawing/2014/main" id="{54B7219B-4ADC-DB04-8553-3B58BEC886D5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9">
                <a:extLst>
                  <a:ext uri="{FF2B5EF4-FFF2-40B4-BE49-F238E27FC236}">
                    <a16:creationId xmlns:a16="http://schemas.microsoft.com/office/drawing/2014/main" id="{DCE1EC08-CE23-16B1-353B-1313242150C2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1" name="Google Shape;461;p9">
              <a:extLst>
                <a:ext uri="{FF2B5EF4-FFF2-40B4-BE49-F238E27FC236}">
                  <a16:creationId xmlns:a16="http://schemas.microsoft.com/office/drawing/2014/main" id="{671CBE49-B319-F729-C263-6E7F30E63B41}"/>
                </a:ext>
              </a:extLst>
            </p:cNvPr>
            <p:cNvGrpSpPr/>
            <p:nvPr/>
          </p:nvGrpSpPr>
          <p:grpSpPr>
            <a:xfrm>
              <a:off x="380497" y="-84403"/>
              <a:ext cx="254000" cy="338403"/>
              <a:chOff x="0" y="-111436"/>
              <a:chExt cx="335351" cy="446787"/>
            </a:xfrm>
          </p:grpSpPr>
          <p:sp>
            <p:nvSpPr>
              <p:cNvPr id="462" name="Google Shape;462;p9">
                <a:extLst>
                  <a:ext uri="{FF2B5EF4-FFF2-40B4-BE49-F238E27FC236}">
                    <a16:creationId xmlns:a16="http://schemas.microsoft.com/office/drawing/2014/main" id="{D7AAC7E7-7C56-0ADA-0E46-697243B9B28A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9">
                <a:extLst>
                  <a:ext uri="{FF2B5EF4-FFF2-40B4-BE49-F238E27FC236}">
                    <a16:creationId xmlns:a16="http://schemas.microsoft.com/office/drawing/2014/main" id="{1C282B31-0E63-5E09-7B89-676B5498AAD8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9">
              <a:extLst>
                <a:ext uri="{FF2B5EF4-FFF2-40B4-BE49-F238E27FC236}">
                  <a16:creationId xmlns:a16="http://schemas.microsoft.com/office/drawing/2014/main" id="{9961AFFD-F6E1-544B-2F44-EA7F7D999FC7}"/>
                </a:ext>
              </a:extLst>
            </p:cNvPr>
            <p:cNvGrpSpPr/>
            <p:nvPr/>
          </p:nvGrpSpPr>
          <p:grpSpPr>
            <a:xfrm>
              <a:off x="761497" y="-84403"/>
              <a:ext cx="254000" cy="338403"/>
              <a:chOff x="0" y="-111436"/>
              <a:chExt cx="335351" cy="446787"/>
            </a:xfrm>
          </p:grpSpPr>
          <p:sp>
            <p:nvSpPr>
              <p:cNvPr id="465" name="Google Shape;465;p9">
                <a:extLst>
                  <a:ext uri="{FF2B5EF4-FFF2-40B4-BE49-F238E27FC236}">
                    <a16:creationId xmlns:a16="http://schemas.microsoft.com/office/drawing/2014/main" id="{AE769E0F-2524-E7AE-4C92-A5C186F48D66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9">
                <a:extLst>
                  <a:ext uri="{FF2B5EF4-FFF2-40B4-BE49-F238E27FC236}">
                    <a16:creationId xmlns:a16="http://schemas.microsoft.com/office/drawing/2014/main" id="{2490742C-2A18-E389-D01A-1B8095A54AAB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7" name="Google Shape;467;p9">
            <a:extLst>
              <a:ext uri="{FF2B5EF4-FFF2-40B4-BE49-F238E27FC236}">
                <a16:creationId xmlns:a16="http://schemas.microsoft.com/office/drawing/2014/main" id="{510E460A-60F3-E6DF-20DD-BE33A05CC92C}"/>
              </a:ext>
            </a:extLst>
          </p:cNvPr>
          <p:cNvGrpSpPr/>
          <p:nvPr/>
        </p:nvGrpSpPr>
        <p:grpSpPr>
          <a:xfrm rot="-3960000">
            <a:off x="9378311" y="655310"/>
            <a:ext cx="11430000" cy="10160000"/>
            <a:chOff x="0" y="0"/>
            <a:chExt cx="4447135" cy="3953009"/>
          </a:xfrm>
        </p:grpSpPr>
        <p:sp>
          <p:nvSpPr>
            <p:cNvPr id="468" name="Google Shape;468;p9">
              <a:extLst>
                <a:ext uri="{FF2B5EF4-FFF2-40B4-BE49-F238E27FC236}">
                  <a16:creationId xmlns:a16="http://schemas.microsoft.com/office/drawing/2014/main" id="{DC5088AF-9648-37A4-E575-29BE44821442}"/>
                </a:ext>
              </a:extLst>
            </p:cNvPr>
            <p:cNvSpPr/>
            <p:nvPr/>
          </p:nvSpPr>
          <p:spPr>
            <a:xfrm>
              <a:off x="0" y="0"/>
              <a:ext cx="4447135" cy="3953009"/>
            </a:xfrm>
            <a:custGeom>
              <a:avLst/>
              <a:gdLst/>
              <a:ahLst/>
              <a:cxnLst/>
              <a:rect l="l" t="t" r="r" b="b"/>
              <a:pathLst>
                <a:path w="4447135" h="3953009" extrusionOk="0">
                  <a:moveTo>
                    <a:pt x="0" y="0"/>
                  </a:moveTo>
                  <a:lnTo>
                    <a:pt x="4447135" y="0"/>
                  </a:lnTo>
                  <a:lnTo>
                    <a:pt x="4447135" y="3953009"/>
                  </a:lnTo>
                  <a:lnTo>
                    <a:pt x="0" y="3953009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526E79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defTabSz="609630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9">
              <a:extLst>
                <a:ext uri="{FF2B5EF4-FFF2-40B4-BE49-F238E27FC236}">
                  <a16:creationId xmlns:a16="http://schemas.microsoft.com/office/drawing/2014/main" id="{59E28EA4-5AA4-739B-010D-241F3126F6BA}"/>
                </a:ext>
              </a:extLst>
            </p:cNvPr>
            <p:cNvSpPr txBox="1"/>
            <p:nvPr/>
          </p:nvSpPr>
          <p:spPr>
            <a:xfrm>
              <a:off x="0" y="19050"/>
              <a:ext cx="4447135" cy="3933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 defTabSz="609630">
                <a:lnSpc>
                  <a:spcPct val="77055"/>
                </a:lnSpc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9">
            <a:extLst>
              <a:ext uri="{FF2B5EF4-FFF2-40B4-BE49-F238E27FC236}">
                <a16:creationId xmlns:a16="http://schemas.microsoft.com/office/drawing/2014/main" id="{D70F46E1-6132-DD56-D5F9-6A52A37BFF35}"/>
              </a:ext>
            </a:extLst>
          </p:cNvPr>
          <p:cNvSpPr/>
          <p:nvPr/>
        </p:nvSpPr>
        <p:spPr>
          <a:xfrm rot="2790752">
            <a:off x="11386716" y="1035634"/>
            <a:ext cx="1610568" cy="1524000"/>
          </a:xfrm>
          <a:custGeom>
            <a:avLst/>
            <a:gdLst/>
            <a:ahLst/>
            <a:cxnLst/>
            <a:rect l="l" t="t" r="r" b="b"/>
            <a:pathLst>
              <a:path w="2415852" h="2286000" extrusionOk="0">
                <a:moveTo>
                  <a:pt x="0" y="0"/>
                </a:moveTo>
                <a:lnTo>
                  <a:pt x="2415852" y="0"/>
                </a:lnTo>
                <a:lnTo>
                  <a:pt x="2415852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>
            <a:extLst>
              <a:ext uri="{FF2B5EF4-FFF2-40B4-BE49-F238E27FC236}">
                <a16:creationId xmlns:a16="http://schemas.microsoft.com/office/drawing/2014/main" id="{8A6B7C61-BCDB-60E3-51C5-BEA58C0A650E}"/>
              </a:ext>
            </a:extLst>
          </p:cNvPr>
          <p:cNvSpPr txBox="1"/>
          <p:nvPr/>
        </p:nvSpPr>
        <p:spPr>
          <a:xfrm>
            <a:off x="685801" y="336552"/>
            <a:ext cx="1656259" cy="287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>
              <a:lnSpc>
                <a:spcPct val="140000"/>
              </a:lnSpc>
              <a:buClr>
                <a:srgbClr val="000000"/>
              </a:buClr>
            </a:pPr>
            <a:r>
              <a:rPr lang="en-US" sz="1333" kern="0">
                <a:solidFill>
                  <a:srgbClr val="526E79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HumanCentric Labs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8002A-72A4-1614-B90C-50688DF1101D}"/>
              </a:ext>
            </a:extLst>
          </p:cNvPr>
          <p:cNvSpPr txBox="1"/>
          <p:nvPr/>
        </p:nvSpPr>
        <p:spPr>
          <a:xfrm>
            <a:off x="1671843" y="959771"/>
            <a:ext cx="55576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Achieving P/L Acceleration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D88CE8-0D93-291C-849A-1EE851A3AF28}"/>
              </a:ext>
            </a:extLst>
          </p:cNvPr>
          <p:cNvSpPr txBox="1"/>
          <p:nvPr/>
        </p:nvSpPr>
        <p:spPr>
          <a:xfrm>
            <a:off x="2074194" y="2336465"/>
            <a:ext cx="8225366" cy="3108543"/>
          </a:xfrm>
          <a:prstGeom prst="rect">
            <a:avLst/>
          </a:prstGeom>
          <a:solidFill>
            <a:srgbClr val="D1DDE1"/>
          </a:solidFill>
        </p:spPr>
        <p:txBody>
          <a:bodyPr wrap="square" rtlCol="0">
            <a:spAutoFit/>
          </a:bodyPr>
          <a:lstStyle/>
          <a:p>
            <a:pPr marL="685800" indent="-685800">
              <a:buAutoNum type="arabicPeriod"/>
            </a:pPr>
            <a:r>
              <a:rPr lang="en-US" sz="2800" dirty="0"/>
              <a:t>Leverage What is Working - People and AI</a:t>
            </a:r>
          </a:p>
          <a:p>
            <a:pPr marL="685800" indent="-685800">
              <a:buAutoNum type="arabicPeriod"/>
            </a:pPr>
            <a:endParaRPr lang="en-US" sz="2800" dirty="0"/>
          </a:p>
          <a:p>
            <a:pPr marL="685800" indent="-685800">
              <a:buAutoNum type="arabicPeriod"/>
            </a:pPr>
            <a:r>
              <a:rPr lang="en-US" sz="2800" dirty="0"/>
              <a:t>Create a New Unit of Work - Talent+AI™ </a:t>
            </a:r>
          </a:p>
          <a:p>
            <a:pPr marL="685800" indent="-685800">
              <a:buFont typeface="+mj-lt"/>
              <a:buAutoNum type="arabicPeriod"/>
            </a:pPr>
            <a:endParaRPr lang="en-US" sz="2800" dirty="0"/>
          </a:p>
          <a:p>
            <a:pPr marL="685800" indent="-685800">
              <a:buFont typeface="+mj-lt"/>
              <a:buAutoNum type="arabicPeriod"/>
            </a:pPr>
            <a:r>
              <a:rPr lang="en-US" sz="2800" dirty="0"/>
              <a:t>Capture Acceleration Thru Adaptability; Value  </a:t>
            </a:r>
          </a:p>
          <a:p>
            <a:pPr marL="685800" indent="-685800">
              <a:buFont typeface="+mj-lt"/>
              <a:buAutoNum type="arabicPeriod"/>
            </a:pPr>
            <a:endParaRPr lang="en-US" sz="2800" dirty="0"/>
          </a:p>
          <a:p>
            <a:pPr marL="685800" indent="-685800">
              <a:buFont typeface="+mj-lt"/>
              <a:buAutoNum type="arabicPeriod"/>
            </a:pPr>
            <a:r>
              <a:rPr lang="en-US" sz="2800" dirty="0"/>
              <a:t>Hardness 100% of Talent and AI potential     </a:t>
            </a:r>
          </a:p>
        </p:txBody>
      </p:sp>
    </p:spTree>
    <p:extLst>
      <p:ext uri="{BB962C8B-B14F-4D97-AF65-F5344CB8AC3E}">
        <p14:creationId xmlns:p14="http://schemas.microsoft.com/office/powerpoint/2010/main" val="2271153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id="{3E97551B-4306-7212-58BA-F96BE243E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9">
            <a:extLst>
              <a:ext uri="{FF2B5EF4-FFF2-40B4-BE49-F238E27FC236}">
                <a16:creationId xmlns:a16="http://schemas.microsoft.com/office/drawing/2014/main" id="{3919252C-9421-2B95-FDCB-391775B385D8}"/>
              </a:ext>
            </a:extLst>
          </p:cNvPr>
          <p:cNvCxnSpPr/>
          <p:nvPr/>
        </p:nvCxnSpPr>
        <p:spPr>
          <a:xfrm>
            <a:off x="685800" y="685800"/>
            <a:ext cx="10820400" cy="0"/>
          </a:xfrm>
          <a:prstGeom prst="straightConnector1">
            <a:avLst/>
          </a:prstGeom>
          <a:noFill/>
          <a:ln w="9525" cap="flat" cmpd="sng">
            <a:solidFill>
              <a:srgbClr val="526E7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7" name="Google Shape;457;p9">
            <a:extLst>
              <a:ext uri="{FF2B5EF4-FFF2-40B4-BE49-F238E27FC236}">
                <a16:creationId xmlns:a16="http://schemas.microsoft.com/office/drawing/2014/main" id="{CCC30C68-D65D-A08A-2BBA-446ECFBD9FB9}"/>
              </a:ext>
            </a:extLst>
          </p:cNvPr>
          <p:cNvGrpSpPr/>
          <p:nvPr/>
        </p:nvGrpSpPr>
        <p:grpSpPr>
          <a:xfrm>
            <a:off x="10998453" y="375840"/>
            <a:ext cx="507749" cy="169202"/>
            <a:chOff x="0" y="-84403"/>
            <a:chExt cx="1015497" cy="338403"/>
          </a:xfrm>
        </p:grpSpPr>
        <p:grpSp>
          <p:nvGrpSpPr>
            <p:cNvPr id="458" name="Google Shape;458;p9">
              <a:extLst>
                <a:ext uri="{FF2B5EF4-FFF2-40B4-BE49-F238E27FC236}">
                  <a16:creationId xmlns:a16="http://schemas.microsoft.com/office/drawing/2014/main" id="{084135FE-8AF3-4E79-2ECB-354F9270530A}"/>
                </a:ext>
              </a:extLst>
            </p:cNvPr>
            <p:cNvGrpSpPr/>
            <p:nvPr/>
          </p:nvGrpSpPr>
          <p:grpSpPr>
            <a:xfrm>
              <a:off x="0" y="-84403"/>
              <a:ext cx="254000" cy="338403"/>
              <a:chOff x="0" y="-111436"/>
              <a:chExt cx="335351" cy="446787"/>
            </a:xfrm>
          </p:grpSpPr>
          <p:sp>
            <p:nvSpPr>
              <p:cNvPr id="459" name="Google Shape;459;p9">
                <a:extLst>
                  <a:ext uri="{FF2B5EF4-FFF2-40B4-BE49-F238E27FC236}">
                    <a16:creationId xmlns:a16="http://schemas.microsoft.com/office/drawing/2014/main" id="{4D8D6A6C-E42F-27F6-A2C8-DD1AA6B12A5C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9">
                <a:extLst>
                  <a:ext uri="{FF2B5EF4-FFF2-40B4-BE49-F238E27FC236}">
                    <a16:creationId xmlns:a16="http://schemas.microsoft.com/office/drawing/2014/main" id="{F844EC73-9D66-22C1-7EF5-462D769D1350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1" name="Google Shape;461;p9">
              <a:extLst>
                <a:ext uri="{FF2B5EF4-FFF2-40B4-BE49-F238E27FC236}">
                  <a16:creationId xmlns:a16="http://schemas.microsoft.com/office/drawing/2014/main" id="{1028D38E-38D8-7B94-CB30-6E00A2259866}"/>
                </a:ext>
              </a:extLst>
            </p:cNvPr>
            <p:cNvGrpSpPr/>
            <p:nvPr/>
          </p:nvGrpSpPr>
          <p:grpSpPr>
            <a:xfrm>
              <a:off x="380497" y="-84403"/>
              <a:ext cx="254000" cy="338403"/>
              <a:chOff x="0" y="-111436"/>
              <a:chExt cx="335351" cy="446787"/>
            </a:xfrm>
          </p:grpSpPr>
          <p:sp>
            <p:nvSpPr>
              <p:cNvPr id="462" name="Google Shape;462;p9">
                <a:extLst>
                  <a:ext uri="{FF2B5EF4-FFF2-40B4-BE49-F238E27FC236}">
                    <a16:creationId xmlns:a16="http://schemas.microsoft.com/office/drawing/2014/main" id="{80FC34EC-EE78-5FB5-D07C-C0295D1CF9C0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9">
                <a:extLst>
                  <a:ext uri="{FF2B5EF4-FFF2-40B4-BE49-F238E27FC236}">
                    <a16:creationId xmlns:a16="http://schemas.microsoft.com/office/drawing/2014/main" id="{94A179E9-B7E6-EE9C-8942-C47C73DA0C74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9">
              <a:extLst>
                <a:ext uri="{FF2B5EF4-FFF2-40B4-BE49-F238E27FC236}">
                  <a16:creationId xmlns:a16="http://schemas.microsoft.com/office/drawing/2014/main" id="{258CF6C0-23F0-F02C-AA36-9DFDD426F736}"/>
                </a:ext>
              </a:extLst>
            </p:cNvPr>
            <p:cNvGrpSpPr/>
            <p:nvPr/>
          </p:nvGrpSpPr>
          <p:grpSpPr>
            <a:xfrm>
              <a:off x="761497" y="-84403"/>
              <a:ext cx="254000" cy="338403"/>
              <a:chOff x="0" y="-111436"/>
              <a:chExt cx="335351" cy="446787"/>
            </a:xfrm>
          </p:grpSpPr>
          <p:sp>
            <p:nvSpPr>
              <p:cNvPr id="465" name="Google Shape;465;p9">
                <a:extLst>
                  <a:ext uri="{FF2B5EF4-FFF2-40B4-BE49-F238E27FC236}">
                    <a16:creationId xmlns:a16="http://schemas.microsoft.com/office/drawing/2014/main" id="{EA607A85-CAAF-054F-5B41-9E00FAFAEE83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9">
                <a:extLst>
                  <a:ext uri="{FF2B5EF4-FFF2-40B4-BE49-F238E27FC236}">
                    <a16:creationId xmlns:a16="http://schemas.microsoft.com/office/drawing/2014/main" id="{4D5354F8-8C1E-8368-CA58-14CB2B13393D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7" name="Google Shape;467;p9">
            <a:extLst>
              <a:ext uri="{FF2B5EF4-FFF2-40B4-BE49-F238E27FC236}">
                <a16:creationId xmlns:a16="http://schemas.microsoft.com/office/drawing/2014/main" id="{3E79D099-39FA-06B7-5FA0-EFB2C1344791}"/>
              </a:ext>
            </a:extLst>
          </p:cNvPr>
          <p:cNvGrpSpPr/>
          <p:nvPr/>
        </p:nvGrpSpPr>
        <p:grpSpPr>
          <a:xfrm rot="-3960000">
            <a:off x="9378311" y="655310"/>
            <a:ext cx="11430000" cy="10160000"/>
            <a:chOff x="0" y="0"/>
            <a:chExt cx="4447135" cy="3953009"/>
          </a:xfrm>
        </p:grpSpPr>
        <p:sp>
          <p:nvSpPr>
            <p:cNvPr id="468" name="Google Shape;468;p9">
              <a:extLst>
                <a:ext uri="{FF2B5EF4-FFF2-40B4-BE49-F238E27FC236}">
                  <a16:creationId xmlns:a16="http://schemas.microsoft.com/office/drawing/2014/main" id="{DE681B71-E20D-01AA-BCE2-09F8D26F3183}"/>
                </a:ext>
              </a:extLst>
            </p:cNvPr>
            <p:cNvSpPr/>
            <p:nvPr/>
          </p:nvSpPr>
          <p:spPr>
            <a:xfrm>
              <a:off x="0" y="0"/>
              <a:ext cx="4447135" cy="3953009"/>
            </a:xfrm>
            <a:custGeom>
              <a:avLst/>
              <a:gdLst/>
              <a:ahLst/>
              <a:cxnLst/>
              <a:rect l="l" t="t" r="r" b="b"/>
              <a:pathLst>
                <a:path w="4447135" h="3953009" extrusionOk="0">
                  <a:moveTo>
                    <a:pt x="0" y="0"/>
                  </a:moveTo>
                  <a:lnTo>
                    <a:pt x="4447135" y="0"/>
                  </a:lnTo>
                  <a:lnTo>
                    <a:pt x="4447135" y="3953009"/>
                  </a:lnTo>
                  <a:lnTo>
                    <a:pt x="0" y="3953009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526E79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defTabSz="609630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9">
              <a:extLst>
                <a:ext uri="{FF2B5EF4-FFF2-40B4-BE49-F238E27FC236}">
                  <a16:creationId xmlns:a16="http://schemas.microsoft.com/office/drawing/2014/main" id="{3B3C7097-722F-D329-6B9E-60005BFDD73F}"/>
                </a:ext>
              </a:extLst>
            </p:cNvPr>
            <p:cNvSpPr txBox="1"/>
            <p:nvPr/>
          </p:nvSpPr>
          <p:spPr>
            <a:xfrm>
              <a:off x="0" y="19050"/>
              <a:ext cx="4447135" cy="3933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 defTabSz="609630">
                <a:lnSpc>
                  <a:spcPct val="77055"/>
                </a:lnSpc>
                <a:buClr>
                  <a:srgbClr val="000000"/>
                </a:buClr>
              </a:pPr>
              <a:endParaRPr sz="12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9">
            <a:extLst>
              <a:ext uri="{FF2B5EF4-FFF2-40B4-BE49-F238E27FC236}">
                <a16:creationId xmlns:a16="http://schemas.microsoft.com/office/drawing/2014/main" id="{4EC6BF3A-C298-BB1B-45CF-D135DB3C3BC6}"/>
              </a:ext>
            </a:extLst>
          </p:cNvPr>
          <p:cNvSpPr/>
          <p:nvPr/>
        </p:nvSpPr>
        <p:spPr>
          <a:xfrm rot="2790752">
            <a:off x="11386716" y="1035634"/>
            <a:ext cx="1610568" cy="1524000"/>
          </a:xfrm>
          <a:custGeom>
            <a:avLst/>
            <a:gdLst/>
            <a:ahLst/>
            <a:cxnLst/>
            <a:rect l="l" t="t" r="r" b="b"/>
            <a:pathLst>
              <a:path w="2415852" h="2286000" extrusionOk="0">
                <a:moveTo>
                  <a:pt x="0" y="0"/>
                </a:moveTo>
                <a:lnTo>
                  <a:pt x="2415852" y="0"/>
                </a:lnTo>
                <a:lnTo>
                  <a:pt x="2415852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>
            <a:extLst>
              <a:ext uri="{FF2B5EF4-FFF2-40B4-BE49-F238E27FC236}">
                <a16:creationId xmlns:a16="http://schemas.microsoft.com/office/drawing/2014/main" id="{8EF8E3A1-A9B9-EC76-E10B-24B09E7727A3}"/>
              </a:ext>
            </a:extLst>
          </p:cNvPr>
          <p:cNvSpPr txBox="1"/>
          <p:nvPr/>
        </p:nvSpPr>
        <p:spPr>
          <a:xfrm>
            <a:off x="685801" y="336552"/>
            <a:ext cx="1656259" cy="287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>
              <a:lnSpc>
                <a:spcPct val="140000"/>
              </a:lnSpc>
              <a:buClr>
                <a:srgbClr val="000000"/>
              </a:buClr>
            </a:pPr>
            <a:r>
              <a:rPr lang="en-US" sz="1333" kern="0">
                <a:solidFill>
                  <a:srgbClr val="526E79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HumanCentric Labs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09C8C0-85F0-C06E-5DB1-D8D2BF11AD59}"/>
              </a:ext>
            </a:extLst>
          </p:cNvPr>
          <p:cNvSpPr txBox="1"/>
          <p:nvPr/>
        </p:nvSpPr>
        <p:spPr>
          <a:xfrm>
            <a:off x="1061320" y="1111978"/>
            <a:ext cx="8653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Talent+AI Enables a New Hybrid Workforce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686CB1-D9BA-9612-1EBF-33904919A251}"/>
              </a:ext>
            </a:extLst>
          </p:cNvPr>
          <p:cNvSpPr txBox="1"/>
          <p:nvPr/>
        </p:nvSpPr>
        <p:spPr>
          <a:xfrm>
            <a:off x="1264282" y="3211712"/>
            <a:ext cx="3827843" cy="1569660"/>
          </a:xfrm>
          <a:prstGeom prst="rect">
            <a:avLst/>
          </a:prstGeom>
          <a:solidFill>
            <a:srgbClr val="D1DDE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Headcount/Job Model </a:t>
            </a:r>
          </a:p>
          <a:p>
            <a:pPr algn="ctr"/>
            <a:r>
              <a:rPr lang="en-US" sz="2400" dirty="0"/>
              <a:t>Talent (%FTE); Labor Cost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AI is a Capital Cost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5F73AC-4C6F-7522-75D2-538742C4636C}"/>
              </a:ext>
            </a:extLst>
          </p:cNvPr>
          <p:cNvSpPr txBox="1"/>
          <p:nvPr/>
        </p:nvSpPr>
        <p:spPr>
          <a:xfrm>
            <a:off x="5397753" y="3734932"/>
            <a:ext cx="761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3CD7B-6F9C-FDF0-896F-9C78866477C9}"/>
              </a:ext>
            </a:extLst>
          </p:cNvPr>
          <p:cNvSpPr txBox="1"/>
          <p:nvPr/>
        </p:nvSpPr>
        <p:spPr>
          <a:xfrm>
            <a:off x="6465128" y="3206630"/>
            <a:ext cx="3853491" cy="1569660"/>
          </a:xfrm>
          <a:prstGeom prst="rect">
            <a:avLst/>
          </a:prstGeom>
          <a:solidFill>
            <a:srgbClr val="D1DDE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Replacement: Talent+AI™</a:t>
            </a:r>
          </a:p>
          <a:p>
            <a:pPr algn="ctr"/>
            <a:r>
              <a:rPr lang="en-US" sz="2400" dirty="0"/>
              <a:t>Talent+AI (%FTE*); Margin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Margin = Value-Cost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171E7-734F-B56C-A6E1-F191FA629747}"/>
              </a:ext>
            </a:extLst>
          </p:cNvPr>
          <p:cNvSpPr txBox="1"/>
          <p:nvPr/>
        </p:nvSpPr>
        <p:spPr>
          <a:xfrm>
            <a:off x="857740" y="6111665"/>
            <a:ext cx="373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Based on Human Equivalence™ </a:t>
            </a:r>
          </a:p>
        </p:txBody>
      </p:sp>
    </p:spTree>
    <p:extLst>
      <p:ext uri="{BB962C8B-B14F-4D97-AF65-F5344CB8AC3E}">
        <p14:creationId xmlns:p14="http://schemas.microsoft.com/office/powerpoint/2010/main" val="218085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id="{0459E0C7-1650-B483-80B8-74C50E9E8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9">
            <a:extLst>
              <a:ext uri="{FF2B5EF4-FFF2-40B4-BE49-F238E27FC236}">
                <a16:creationId xmlns:a16="http://schemas.microsoft.com/office/drawing/2014/main" id="{E54BCB86-8663-9828-3B61-A4A5A9B77FCA}"/>
              </a:ext>
            </a:extLst>
          </p:cNvPr>
          <p:cNvCxnSpPr/>
          <p:nvPr/>
        </p:nvCxnSpPr>
        <p:spPr>
          <a:xfrm>
            <a:off x="685800" y="685800"/>
            <a:ext cx="10820400" cy="0"/>
          </a:xfrm>
          <a:prstGeom prst="straightConnector1">
            <a:avLst/>
          </a:prstGeom>
          <a:noFill/>
          <a:ln w="9525" cap="flat" cmpd="sng">
            <a:solidFill>
              <a:srgbClr val="526E7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7" name="Google Shape;457;p9">
            <a:extLst>
              <a:ext uri="{FF2B5EF4-FFF2-40B4-BE49-F238E27FC236}">
                <a16:creationId xmlns:a16="http://schemas.microsoft.com/office/drawing/2014/main" id="{CCD044FF-47D3-6E60-C245-6B1D43CC86F2}"/>
              </a:ext>
            </a:extLst>
          </p:cNvPr>
          <p:cNvGrpSpPr/>
          <p:nvPr/>
        </p:nvGrpSpPr>
        <p:grpSpPr>
          <a:xfrm>
            <a:off x="10998453" y="375840"/>
            <a:ext cx="507749" cy="169202"/>
            <a:chOff x="0" y="-84403"/>
            <a:chExt cx="1015497" cy="338403"/>
          </a:xfrm>
        </p:grpSpPr>
        <p:grpSp>
          <p:nvGrpSpPr>
            <p:cNvPr id="458" name="Google Shape;458;p9">
              <a:extLst>
                <a:ext uri="{FF2B5EF4-FFF2-40B4-BE49-F238E27FC236}">
                  <a16:creationId xmlns:a16="http://schemas.microsoft.com/office/drawing/2014/main" id="{165E089F-8B9A-27F7-7CEC-2FA6FBDBE227}"/>
                </a:ext>
              </a:extLst>
            </p:cNvPr>
            <p:cNvGrpSpPr/>
            <p:nvPr/>
          </p:nvGrpSpPr>
          <p:grpSpPr>
            <a:xfrm>
              <a:off x="0" y="-84403"/>
              <a:ext cx="254000" cy="338403"/>
              <a:chOff x="0" y="-111436"/>
              <a:chExt cx="335351" cy="446787"/>
            </a:xfrm>
          </p:grpSpPr>
          <p:sp>
            <p:nvSpPr>
              <p:cNvPr id="459" name="Google Shape;459;p9">
                <a:extLst>
                  <a:ext uri="{FF2B5EF4-FFF2-40B4-BE49-F238E27FC236}">
                    <a16:creationId xmlns:a16="http://schemas.microsoft.com/office/drawing/2014/main" id="{4D383DA1-3469-E413-F488-0F065762FAAB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9">
                <a:extLst>
                  <a:ext uri="{FF2B5EF4-FFF2-40B4-BE49-F238E27FC236}">
                    <a16:creationId xmlns:a16="http://schemas.microsoft.com/office/drawing/2014/main" id="{088D69F0-949D-7188-67B0-A0C5FE43642B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1" name="Google Shape;461;p9">
              <a:extLst>
                <a:ext uri="{FF2B5EF4-FFF2-40B4-BE49-F238E27FC236}">
                  <a16:creationId xmlns:a16="http://schemas.microsoft.com/office/drawing/2014/main" id="{947128A8-8F26-75BF-747A-556F123E468A}"/>
                </a:ext>
              </a:extLst>
            </p:cNvPr>
            <p:cNvGrpSpPr/>
            <p:nvPr/>
          </p:nvGrpSpPr>
          <p:grpSpPr>
            <a:xfrm>
              <a:off x="380497" y="-84403"/>
              <a:ext cx="254000" cy="338403"/>
              <a:chOff x="0" y="-111436"/>
              <a:chExt cx="335351" cy="446787"/>
            </a:xfrm>
          </p:grpSpPr>
          <p:sp>
            <p:nvSpPr>
              <p:cNvPr id="462" name="Google Shape;462;p9">
                <a:extLst>
                  <a:ext uri="{FF2B5EF4-FFF2-40B4-BE49-F238E27FC236}">
                    <a16:creationId xmlns:a16="http://schemas.microsoft.com/office/drawing/2014/main" id="{81D4D56C-30C7-3DF4-63ED-88F70FDCC889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9">
                <a:extLst>
                  <a:ext uri="{FF2B5EF4-FFF2-40B4-BE49-F238E27FC236}">
                    <a16:creationId xmlns:a16="http://schemas.microsoft.com/office/drawing/2014/main" id="{5A5A57EA-8D5B-8840-946E-EBBA6FA15B02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9">
              <a:extLst>
                <a:ext uri="{FF2B5EF4-FFF2-40B4-BE49-F238E27FC236}">
                  <a16:creationId xmlns:a16="http://schemas.microsoft.com/office/drawing/2014/main" id="{68DE5486-4D86-CAB9-AD89-85DCCF50A704}"/>
                </a:ext>
              </a:extLst>
            </p:cNvPr>
            <p:cNvGrpSpPr/>
            <p:nvPr/>
          </p:nvGrpSpPr>
          <p:grpSpPr>
            <a:xfrm>
              <a:off x="761497" y="-84403"/>
              <a:ext cx="254000" cy="338403"/>
              <a:chOff x="0" y="-111436"/>
              <a:chExt cx="335351" cy="446787"/>
            </a:xfrm>
          </p:grpSpPr>
          <p:sp>
            <p:nvSpPr>
              <p:cNvPr id="465" name="Google Shape;465;p9">
                <a:extLst>
                  <a:ext uri="{FF2B5EF4-FFF2-40B4-BE49-F238E27FC236}">
                    <a16:creationId xmlns:a16="http://schemas.microsoft.com/office/drawing/2014/main" id="{1C61EABD-F197-30F1-62AF-0BABFDBE870C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9">
                <a:extLst>
                  <a:ext uri="{FF2B5EF4-FFF2-40B4-BE49-F238E27FC236}">
                    <a16:creationId xmlns:a16="http://schemas.microsoft.com/office/drawing/2014/main" id="{365DB124-16FF-8557-BD22-8381EC19A1D6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7" name="Google Shape;467;p9">
            <a:extLst>
              <a:ext uri="{FF2B5EF4-FFF2-40B4-BE49-F238E27FC236}">
                <a16:creationId xmlns:a16="http://schemas.microsoft.com/office/drawing/2014/main" id="{40615D83-2A30-0BDB-7C43-6149FE9FC449}"/>
              </a:ext>
            </a:extLst>
          </p:cNvPr>
          <p:cNvGrpSpPr/>
          <p:nvPr/>
        </p:nvGrpSpPr>
        <p:grpSpPr>
          <a:xfrm rot="-3960000">
            <a:off x="9790691" y="3323838"/>
            <a:ext cx="6433419" cy="6144075"/>
            <a:chOff x="0" y="0"/>
            <a:chExt cx="4447135" cy="3953009"/>
          </a:xfrm>
        </p:grpSpPr>
        <p:sp>
          <p:nvSpPr>
            <p:cNvPr id="468" name="Google Shape;468;p9">
              <a:extLst>
                <a:ext uri="{FF2B5EF4-FFF2-40B4-BE49-F238E27FC236}">
                  <a16:creationId xmlns:a16="http://schemas.microsoft.com/office/drawing/2014/main" id="{7759E5D4-C7AA-98C5-8D5B-A23235C5C01B}"/>
                </a:ext>
              </a:extLst>
            </p:cNvPr>
            <p:cNvSpPr/>
            <p:nvPr/>
          </p:nvSpPr>
          <p:spPr>
            <a:xfrm>
              <a:off x="0" y="0"/>
              <a:ext cx="4447135" cy="3953009"/>
            </a:xfrm>
            <a:custGeom>
              <a:avLst/>
              <a:gdLst/>
              <a:ahLst/>
              <a:cxnLst/>
              <a:rect l="l" t="t" r="r" b="b"/>
              <a:pathLst>
                <a:path w="4447135" h="3953009" extrusionOk="0">
                  <a:moveTo>
                    <a:pt x="0" y="0"/>
                  </a:moveTo>
                  <a:lnTo>
                    <a:pt x="4447135" y="0"/>
                  </a:lnTo>
                  <a:lnTo>
                    <a:pt x="4447135" y="3953009"/>
                  </a:lnTo>
                  <a:lnTo>
                    <a:pt x="0" y="3953009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526E79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defTabSz="609630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9">
              <a:extLst>
                <a:ext uri="{FF2B5EF4-FFF2-40B4-BE49-F238E27FC236}">
                  <a16:creationId xmlns:a16="http://schemas.microsoft.com/office/drawing/2014/main" id="{8C41D000-9487-C3FE-B312-D9983972A0C2}"/>
                </a:ext>
              </a:extLst>
            </p:cNvPr>
            <p:cNvSpPr txBox="1"/>
            <p:nvPr/>
          </p:nvSpPr>
          <p:spPr>
            <a:xfrm>
              <a:off x="0" y="19050"/>
              <a:ext cx="4447135" cy="3933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 defTabSz="609630">
                <a:lnSpc>
                  <a:spcPct val="77055"/>
                </a:lnSpc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9">
            <a:extLst>
              <a:ext uri="{FF2B5EF4-FFF2-40B4-BE49-F238E27FC236}">
                <a16:creationId xmlns:a16="http://schemas.microsoft.com/office/drawing/2014/main" id="{7782FEC3-F587-AE49-8A97-1C866D0365FE}"/>
              </a:ext>
            </a:extLst>
          </p:cNvPr>
          <p:cNvSpPr/>
          <p:nvPr/>
        </p:nvSpPr>
        <p:spPr>
          <a:xfrm rot="2790752">
            <a:off x="11386716" y="1035634"/>
            <a:ext cx="1610568" cy="1524000"/>
          </a:xfrm>
          <a:custGeom>
            <a:avLst/>
            <a:gdLst/>
            <a:ahLst/>
            <a:cxnLst/>
            <a:rect l="l" t="t" r="r" b="b"/>
            <a:pathLst>
              <a:path w="2415852" h="2286000" extrusionOk="0">
                <a:moveTo>
                  <a:pt x="0" y="0"/>
                </a:moveTo>
                <a:lnTo>
                  <a:pt x="2415852" y="0"/>
                </a:lnTo>
                <a:lnTo>
                  <a:pt x="2415852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>
            <a:extLst>
              <a:ext uri="{FF2B5EF4-FFF2-40B4-BE49-F238E27FC236}">
                <a16:creationId xmlns:a16="http://schemas.microsoft.com/office/drawing/2014/main" id="{0C83EF6E-46F9-CE81-2704-212ED4184827}"/>
              </a:ext>
            </a:extLst>
          </p:cNvPr>
          <p:cNvSpPr txBox="1"/>
          <p:nvPr/>
        </p:nvSpPr>
        <p:spPr>
          <a:xfrm>
            <a:off x="685801" y="336552"/>
            <a:ext cx="1656259" cy="287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>
              <a:lnSpc>
                <a:spcPct val="140000"/>
              </a:lnSpc>
              <a:buClr>
                <a:srgbClr val="000000"/>
              </a:buClr>
            </a:pPr>
            <a:r>
              <a:rPr lang="en-US" sz="1333" kern="0">
                <a:solidFill>
                  <a:srgbClr val="526E79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HumanCentric Labs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E1FCBD-E0FE-331A-5ECD-CF1AA3A900F9}"/>
              </a:ext>
            </a:extLst>
          </p:cNvPr>
          <p:cNvSpPr txBox="1"/>
          <p:nvPr/>
        </p:nvSpPr>
        <p:spPr>
          <a:xfrm>
            <a:off x="1377695" y="991971"/>
            <a:ext cx="78988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Service Model Paradigm Makes It Work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C155F5-C156-99DB-3528-6385727E062C}"/>
              </a:ext>
            </a:extLst>
          </p:cNvPr>
          <p:cNvSpPr txBox="1"/>
          <p:nvPr/>
        </p:nvSpPr>
        <p:spPr>
          <a:xfrm>
            <a:off x="6416499" y="3610390"/>
            <a:ext cx="4668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4. Service Level Margin Rolls up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B2928-DFE2-1F9C-5B35-06A0410E78D4}"/>
              </a:ext>
            </a:extLst>
          </p:cNvPr>
          <p:cNvSpPr txBox="1"/>
          <p:nvPr/>
        </p:nvSpPr>
        <p:spPr>
          <a:xfrm>
            <a:off x="5778737" y="4040574"/>
            <a:ext cx="4513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 Customer Driven Adaptive System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D85A1-B3F1-AE42-FD6C-E74A71350788}"/>
              </a:ext>
            </a:extLst>
          </p:cNvPr>
          <p:cNvSpPr txBox="1"/>
          <p:nvPr/>
        </p:nvSpPr>
        <p:spPr>
          <a:xfrm>
            <a:off x="5139939" y="4497301"/>
            <a:ext cx="4668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2. Supplier-Customer Value Exchange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7AC72B-2862-C037-626F-28CB41003158}"/>
              </a:ext>
            </a:extLst>
          </p:cNvPr>
          <p:cNvSpPr txBox="1"/>
          <p:nvPr/>
        </p:nvSpPr>
        <p:spPr>
          <a:xfrm>
            <a:off x="4453230" y="4912168"/>
            <a:ext cx="4315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1. Service Data Replaces Job Data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F087B7-EC7E-61FB-9F96-E73119AA4DE2}"/>
              </a:ext>
            </a:extLst>
          </p:cNvPr>
          <p:cNvSpPr txBox="1"/>
          <p:nvPr/>
        </p:nvSpPr>
        <p:spPr>
          <a:xfrm>
            <a:off x="3406835" y="7702142"/>
            <a:ext cx="3418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2. Services Are Normalized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942D5E-A2AD-0C4D-DC78-4B913B9C03BB}"/>
              </a:ext>
            </a:extLst>
          </p:cNvPr>
          <p:cNvSpPr txBox="1"/>
          <p:nvPr/>
        </p:nvSpPr>
        <p:spPr>
          <a:xfrm>
            <a:off x="0" y="7030603"/>
            <a:ext cx="3764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6. Talent+AI - % FTE + Margin 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40B565E-FD5E-2752-4434-45159C5EFCAF}"/>
              </a:ext>
            </a:extLst>
          </p:cNvPr>
          <p:cNvGrpSpPr/>
          <p:nvPr/>
        </p:nvGrpSpPr>
        <p:grpSpPr>
          <a:xfrm>
            <a:off x="7147724" y="1797634"/>
            <a:ext cx="2780299" cy="1707211"/>
            <a:chOff x="8129116" y="1899138"/>
            <a:chExt cx="2780299" cy="170721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D1466D7-CE0F-B4AB-C43D-4FDF1203B6AA}"/>
                </a:ext>
              </a:extLst>
            </p:cNvPr>
            <p:cNvSpPr/>
            <p:nvPr/>
          </p:nvSpPr>
          <p:spPr>
            <a:xfrm>
              <a:off x="8129116" y="1899138"/>
              <a:ext cx="2753249" cy="1707211"/>
            </a:xfrm>
            <a:prstGeom prst="rect">
              <a:avLst/>
            </a:prstGeom>
            <a:solidFill>
              <a:srgbClr val="8DAB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EDC243F-1C8B-D7BD-C16E-94CC3AB3E13A}"/>
                </a:ext>
              </a:extLst>
            </p:cNvPr>
            <p:cNvGrpSpPr/>
            <p:nvPr/>
          </p:nvGrpSpPr>
          <p:grpSpPr>
            <a:xfrm>
              <a:off x="8214303" y="2030714"/>
              <a:ext cx="2695112" cy="1498380"/>
              <a:chOff x="9342397" y="2280584"/>
              <a:chExt cx="2695112" cy="1498380"/>
            </a:xfrm>
            <a:solidFill>
              <a:srgbClr val="D1DDE1"/>
            </a:solidFill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9292BF-213B-6EEA-43C1-3D624C705CAD}"/>
                  </a:ext>
                </a:extLst>
              </p:cNvPr>
              <p:cNvSpPr txBox="1"/>
              <p:nvPr/>
            </p:nvSpPr>
            <p:spPr>
              <a:xfrm>
                <a:off x="9342397" y="2838253"/>
                <a:ext cx="15237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Alignment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78352A-1B28-29EA-8763-3273621B293C}"/>
                  </a:ext>
                </a:extLst>
              </p:cNvPr>
              <p:cNvSpPr txBox="1"/>
              <p:nvPr/>
            </p:nvSpPr>
            <p:spPr>
              <a:xfrm>
                <a:off x="9959397" y="3378854"/>
                <a:ext cx="2078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Service Margin  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7E84F4-08E6-DAD5-DD19-27666440A790}"/>
                  </a:ext>
                </a:extLst>
              </p:cNvPr>
              <p:cNvSpPr txBox="1"/>
              <p:nvPr/>
            </p:nvSpPr>
            <p:spPr>
              <a:xfrm>
                <a:off x="10035910" y="2280584"/>
                <a:ext cx="16308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 P/L Margin 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3DFCD61-EA0B-8B73-5636-DA2082794A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95354" y="2778384"/>
                <a:ext cx="3" cy="493160"/>
              </a:xfrm>
              <a:prstGeom prst="straightConnector1">
                <a:avLst/>
              </a:prstGeom>
              <a:grpFill/>
              <a:ln w="19050"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81EDB33-DC28-ED5C-ADA3-E1C62BA29AC6}"/>
              </a:ext>
            </a:extLst>
          </p:cNvPr>
          <p:cNvSpPr txBox="1"/>
          <p:nvPr/>
        </p:nvSpPr>
        <p:spPr>
          <a:xfrm>
            <a:off x="605454" y="3367741"/>
            <a:ext cx="3791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Service Model</a:t>
            </a:r>
          </a:p>
          <a:p>
            <a:r>
              <a:rPr lang="en-US" sz="2400" dirty="0"/>
              <a:t>Management System (SMMS)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E012FF0-7904-54CB-547E-F96E19EA57B2}"/>
              </a:ext>
            </a:extLst>
          </p:cNvPr>
          <p:cNvSpPr/>
          <p:nvPr/>
        </p:nvSpPr>
        <p:spPr>
          <a:xfrm>
            <a:off x="3888406" y="2599308"/>
            <a:ext cx="736500" cy="2649729"/>
          </a:xfrm>
          <a:prstGeom prst="rightArrow">
            <a:avLst/>
          </a:prstGeom>
          <a:solidFill>
            <a:srgbClr val="D1DD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8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id="{ADC19441-FACF-BDBE-3923-6C8E1AB9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9">
            <a:extLst>
              <a:ext uri="{FF2B5EF4-FFF2-40B4-BE49-F238E27FC236}">
                <a16:creationId xmlns:a16="http://schemas.microsoft.com/office/drawing/2014/main" id="{1BC72321-70AA-E4E4-690D-9BFE57C8495C}"/>
              </a:ext>
            </a:extLst>
          </p:cNvPr>
          <p:cNvCxnSpPr/>
          <p:nvPr/>
        </p:nvCxnSpPr>
        <p:spPr>
          <a:xfrm>
            <a:off x="685800" y="685800"/>
            <a:ext cx="10820400" cy="0"/>
          </a:xfrm>
          <a:prstGeom prst="straightConnector1">
            <a:avLst/>
          </a:prstGeom>
          <a:noFill/>
          <a:ln w="9525" cap="flat" cmpd="sng">
            <a:solidFill>
              <a:srgbClr val="526E7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7" name="Google Shape;457;p9">
            <a:extLst>
              <a:ext uri="{FF2B5EF4-FFF2-40B4-BE49-F238E27FC236}">
                <a16:creationId xmlns:a16="http://schemas.microsoft.com/office/drawing/2014/main" id="{5893C7C5-810D-EF77-A53B-B661C9A010EE}"/>
              </a:ext>
            </a:extLst>
          </p:cNvPr>
          <p:cNvGrpSpPr/>
          <p:nvPr/>
        </p:nvGrpSpPr>
        <p:grpSpPr>
          <a:xfrm>
            <a:off x="10998453" y="375840"/>
            <a:ext cx="507749" cy="169202"/>
            <a:chOff x="0" y="-84403"/>
            <a:chExt cx="1015497" cy="338403"/>
          </a:xfrm>
        </p:grpSpPr>
        <p:grpSp>
          <p:nvGrpSpPr>
            <p:cNvPr id="458" name="Google Shape;458;p9">
              <a:extLst>
                <a:ext uri="{FF2B5EF4-FFF2-40B4-BE49-F238E27FC236}">
                  <a16:creationId xmlns:a16="http://schemas.microsoft.com/office/drawing/2014/main" id="{4CC27AF6-D859-AA27-00B1-DEAA57901943}"/>
                </a:ext>
              </a:extLst>
            </p:cNvPr>
            <p:cNvGrpSpPr/>
            <p:nvPr/>
          </p:nvGrpSpPr>
          <p:grpSpPr>
            <a:xfrm>
              <a:off x="0" y="-84403"/>
              <a:ext cx="254000" cy="338403"/>
              <a:chOff x="0" y="-111436"/>
              <a:chExt cx="335351" cy="446787"/>
            </a:xfrm>
          </p:grpSpPr>
          <p:sp>
            <p:nvSpPr>
              <p:cNvPr id="459" name="Google Shape;459;p9">
                <a:extLst>
                  <a:ext uri="{FF2B5EF4-FFF2-40B4-BE49-F238E27FC236}">
                    <a16:creationId xmlns:a16="http://schemas.microsoft.com/office/drawing/2014/main" id="{F48792CC-CB1A-3057-6C4F-2FFBD69D17FB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9">
                <a:extLst>
                  <a:ext uri="{FF2B5EF4-FFF2-40B4-BE49-F238E27FC236}">
                    <a16:creationId xmlns:a16="http://schemas.microsoft.com/office/drawing/2014/main" id="{F29818BA-78FE-7C90-E0FD-B4806DA0D99C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1" name="Google Shape;461;p9">
              <a:extLst>
                <a:ext uri="{FF2B5EF4-FFF2-40B4-BE49-F238E27FC236}">
                  <a16:creationId xmlns:a16="http://schemas.microsoft.com/office/drawing/2014/main" id="{F0D82E7C-248D-75C1-7B54-92045C175384}"/>
                </a:ext>
              </a:extLst>
            </p:cNvPr>
            <p:cNvGrpSpPr/>
            <p:nvPr/>
          </p:nvGrpSpPr>
          <p:grpSpPr>
            <a:xfrm>
              <a:off x="380497" y="-84403"/>
              <a:ext cx="254000" cy="338403"/>
              <a:chOff x="0" y="-111436"/>
              <a:chExt cx="335351" cy="446787"/>
            </a:xfrm>
          </p:grpSpPr>
          <p:sp>
            <p:nvSpPr>
              <p:cNvPr id="462" name="Google Shape;462;p9">
                <a:extLst>
                  <a:ext uri="{FF2B5EF4-FFF2-40B4-BE49-F238E27FC236}">
                    <a16:creationId xmlns:a16="http://schemas.microsoft.com/office/drawing/2014/main" id="{ADC78F15-5F4A-FCA6-8202-2800EF9B6927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9">
                <a:extLst>
                  <a:ext uri="{FF2B5EF4-FFF2-40B4-BE49-F238E27FC236}">
                    <a16:creationId xmlns:a16="http://schemas.microsoft.com/office/drawing/2014/main" id="{93C46B0F-AE80-75D3-6A5C-71D1EB6A97B3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9">
              <a:extLst>
                <a:ext uri="{FF2B5EF4-FFF2-40B4-BE49-F238E27FC236}">
                  <a16:creationId xmlns:a16="http://schemas.microsoft.com/office/drawing/2014/main" id="{8249C636-A123-5FFA-1541-427810937DB0}"/>
                </a:ext>
              </a:extLst>
            </p:cNvPr>
            <p:cNvGrpSpPr/>
            <p:nvPr/>
          </p:nvGrpSpPr>
          <p:grpSpPr>
            <a:xfrm>
              <a:off x="761497" y="-84403"/>
              <a:ext cx="254000" cy="338403"/>
              <a:chOff x="0" y="-111436"/>
              <a:chExt cx="335351" cy="446787"/>
            </a:xfrm>
          </p:grpSpPr>
          <p:sp>
            <p:nvSpPr>
              <p:cNvPr id="465" name="Google Shape;465;p9">
                <a:extLst>
                  <a:ext uri="{FF2B5EF4-FFF2-40B4-BE49-F238E27FC236}">
                    <a16:creationId xmlns:a16="http://schemas.microsoft.com/office/drawing/2014/main" id="{239F61C5-996D-19D5-5232-0F8020030CE5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9">
                <a:extLst>
                  <a:ext uri="{FF2B5EF4-FFF2-40B4-BE49-F238E27FC236}">
                    <a16:creationId xmlns:a16="http://schemas.microsoft.com/office/drawing/2014/main" id="{AE3BB336-7FFE-8322-9825-A56D6EA40CBC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7" name="Google Shape;467;p9">
            <a:extLst>
              <a:ext uri="{FF2B5EF4-FFF2-40B4-BE49-F238E27FC236}">
                <a16:creationId xmlns:a16="http://schemas.microsoft.com/office/drawing/2014/main" id="{B4D0F6CD-23E6-7995-AC62-AFC28B17B3F4}"/>
              </a:ext>
            </a:extLst>
          </p:cNvPr>
          <p:cNvGrpSpPr/>
          <p:nvPr/>
        </p:nvGrpSpPr>
        <p:grpSpPr>
          <a:xfrm rot="-3960000">
            <a:off x="9378311" y="655310"/>
            <a:ext cx="11430000" cy="10160000"/>
            <a:chOff x="0" y="0"/>
            <a:chExt cx="4447135" cy="3953009"/>
          </a:xfrm>
        </p:grpSpPr>
        <p:sp>
          <p:nvSpPr>
            <p:cNvPr id="468" name="Google Shape;468;p9">
              <a:extLst>
                <a:ext uri="{FF2B5EF4-FFF2-40B4-BE49-F238E27FC236}">
                  <a16:creationId xmlns:a16="http://schemas.microsoft.com/office/drawing/2014/main" id="{4EC00A69-292C-B631-0E0D-767C85B331DF}"/>
                </a:ext>
              </a:extLst>
            </p:cNvPr>
            <p:cNvSpPr/>
            <p:nvPr/>
          </p:nvSpPr>
          <p:spPr>
            <a:xfrm>
              <a:off x="0" y="0"/>
              <a:ext cx="4447135" cy="3953009"/>
            </a:xfrm>
            <a:custGeom>
              <a:avLst/>
              <a:gdLst/>
              <a:ahLst/>
              <a:cxnLst/>
              <a:rect l="l" t="t" r="r" b="b"/>
              <a:pathLst>
                <a:path w="4447135" h="3953009" extrusionOk="0">
                  <a:moveTo>
                    <a:pt x="0" y="0"/>
                  </a:moveTo>
                  <a:lnTo>
                    <a:pt x="4447135" y="0"/>
                  </a:lnTo>
                  <a:lnTo>
                    <a:pt x="4447135" y="3953009"/>
                  </a:lnTo>
                  <a:lnTo>
                    <a:pt x="0" y="3953009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526E79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defTabSz="609630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9">
              <a:extLst>
                <a:ext uri="{FF2B5EF4-FFF2-40B4-BE49-F238E27FC236}">
                  <a16:creationId xmlns:a16="http://schemas.microsoft.com/office/drawing/2014/main" id="{82E894C8-AA51-20FF-B242-0A4BA5E8EE9B}"/>
                </a:ext>
              </a:extLst>
            </p:cNvPr>
            <p:cNvSpPr txBox="1"/>
            <p:nvPr/>
          </p:nvSpPr>
          <p:spPr>
            <a:xfrm>
              <a:off x="0" y="19050"/>
              <a:ext cx="4447135" cy="3933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 defTabSz="609630">
                <a:lnSpc>
                  <a:spcPct val="77055"/>
                </a:lnSpc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9">
            <a:extLst>
              <a:ext uri="{FF2B5EF4-FFF2-40B4-BE49-F238E27FC236}">
                <a16:creationId xmlns:a16="http://schemas.microsoft.com/office/drawing/2014/main" id="{1C0685A4-B41D-1EDA-39C4-F2AD2FAB859F}"/>
              </a:ext>
            </a:extLst>
          </p:cNvPr>
          <p:cNvSpPr/>
          <p:nvPr/>
        </p:nvSpPr>
        <p:spPr>
          <a:xfrm rot="2790752">
            <a:off x="11386716" y="1035634"/>
            <a:ext cx="1610568" cy="1524000"/>
          </a:xfrm>
          <a:custGeom>
            <a:avLst/>
            <a:gdLst/>
            <a:ahLst/>
            <a:cxnLst/>
            <a:rect l="l" t="t" r="r" b="b"/>
            <a:pathLst>
              <a:path w="2415852" h="2286000" extrusionOk="0">
                <a:moveTo>
                  <a:pt x="0" y="0"/>
                </a:moveTo>
                <a:lnTo>
                  <a:pt x="2415852" y="0"/>
                </a:lnTo>
                <a:lnTo>
                  <a:pt x="2415852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>
            <a:extLst>
              <a:ext uri="{FF2B5EF4-FFF2-40B4-BE49-F238E27FC236}">
                <a16:creationId xmlns:a16="http://schemas.microsoft.com/office/drawing/2014/main" id="{30FBAF31-6466-CF5F-2445-1658F4F1890F}"/>
              </a:ext>
            </a:extLst>
          </p:cNvPr>
          <p:cNvSpPr txBox="1"/>
          <p:nvPr/>
        </p:nvSpPr>
        <p:spPr>
          <a:xfrm>
            <a:off x="685801" y="336552"/>
            <a:ext cx="1656259" cy="287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>
              <a:lnSpc>
                <a:spcPct val="140000"/>
              </a:lnSpc>
              <a:buClr>
                <a:srgbClr val="000000"/>
              </a:buClr>
            </a:pPr>
            <a:r>
              <a:rPr lang="en-US" sz="1333" kern="0">
                <a:solidFill>
                  <a:srgbClr val="526E79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HumanCentric Labs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BFB3C1E-59FA-8A56-C86A-014AE8BDF9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73514"/>
              </p:ext>
            </p:extLst>
          </p:nvPr>
        </p:nvGraphicFramePr>
        <p:xfrm>
          <a:off x="1205802" y="1429778"/>
          <a:ext cx="8046151" cy="456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7101698" imgH="4030807" progId="Excel.Sheet.12">
                  <p:embed/>
                </p:oleObj>
              </mc:Choice>
              <mc:Fallback>
                <p:oleObj name="Worksheet" r:id="rId4" imgW="7101698" imgH="4030807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BFB3C1E-59FA-8A56-C86A-014AE8BDF9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05802" y="1429778"/>
                        <a:ext cx="8046151" cy="456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271BDC-C1F1-482B-5A84-FB97FFBC0748}"/>
              </a:ext>
            </a:extLst>
          </p:cNvPr>
          <p:cNvSpPr txBox="1"/>
          <p:nvPr/>
        </p:nvSpPr>
        <p:spPr>
          <a:xfrm>
            <a:off x="1134032" y="844504"/>
            <a:ext cx="5859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Talent+AI Outperforms AI-Talent  </a:t>
            </a:r>
          </a:p>
        </p:txBody>
      </p:sp>
    </p:spTree>
    <p:extLst>
      <p:ext uri="{BB962C8B-B14F-4D97-AF65-F5344CB8AC3E}">
        <p14:creationId xmlns:p14="http://schemas.microsoft.com/office/powerpoint/2010/main" val="1511180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>
          <a:extLst>
            <a:ext uri="{FF2B5EF4-FFF2-40B4-BE49-F238E27FC236}">
              <a16:creationId xmlns:a16="http://schemas.microsoft.com/office/drawing/2014/main" id="{B827ADC5-A517-D181-90ED-99F676D6D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9">
            <a:extLst>
              <a:ext uri="{FF2B5EF4-FFF2-40B4-BE49-F238E27FC236}">
                <a16:creationId xmlns:a16="http://schemas.microsoft.com/office/drawing/2014/main" id="{C133EDF8-B9C1-6E42-B8F4-D3599D55F051}"/>
              </a:ext>
            </a:extLst>
          </p:cNvPr>
          <p:cNvCxnSpPr/>
          <p:nvPr/>
        </p:nvCxnSpPr>
        <p:spPr>
          <a:xfrm>
            <a:off x="685800" y="685800"/>
            <a:ext cx="10820400" cy="0"/>
          </a:xfrm>
          <a:prstGeom prst="straightConnector1">
            <a:avLst/>
          </a:prstGeom>
          <a:noFill/>
          <a:ln w="9525" cap="flat" cmpd="sng">
            <a:solidFill>
              <a:srgbClr val="526E7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57" name="Google Shape;457;p9">
            <a:extLst>
              <a:ext uri="{FF2B5EF4-FFF2-40B4-BE49-F238E27FC236}">
                <a16:creationId xmlns:a16="http://schemas.microsoft.com/office/drawing/2014/main" id="{C86C77F2-167F-30D1-749E-9154E8CE8542}"/>
              </a:ext>
            </a:extLst>
          </p:cNvPr>
          <p:cNvGrpSpPr/>
          <p:nvPr/>
        </p:nvGrpSpPr>
        <p:grpSpPr>
          <a:xfrm>
            <a:off x="10998453" y="375840"/>
            <a:ext cx="507749" cy="169202"/>
            <a:chOff x="0" y="-84403"/>
            <a:chExt cx="1015497" cy="338403"/>
          </a:xfrm>
        </p:grpSpPr>
        <p:grpSp>
          <p:nvGrpSpPr>
            <p:cNvPr id="458" name="Google Shape;458;p9">
              <a:extLst>
                <a:ext uri="{FF2B5EF4-FFF2-40B4-BE49-F238E27FC236}">
                  <a16:creationId xmlns:a16="http://schemas.microsoft.com/office/drawing/2014/main" id="{F484B5B7-C666-1751-92F2-011B288EAAC2}"/>
                </a:ext>
              </a:extLst>
            </p:cNvPr>
            <p:cNvGrpSpPr/>
            <p:nvPr/>
          </p:nvGrpSpPr>
          <p:grpSpPr>
            <a:xfrm>
              <a:off x="0" y="-84403"/>
              <a:ext cx="254000" cy="338403"/>
              <a:chOff x="0" y="-111436"/>
              <a:chExt cx="335351" cy="446787"/>
            </a:xfrm>
          </p:grpSpPr>
          <p:sp>
            <p:nvSpPr>
              <p:cNvPr id="459" name="Google Shape;459;p9">
                <a:extLst>
                  <a:ext uri="{FF2B5EF4-FFF2-40B4-BE49-F238E27FC236}">
                    <a16:creationId xmlns:a16="http://schemas.microsoft.com/office/drawing/2014/main" id="{34C0CAD2-9208-1008-3835-92FEFBF58463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9">
                <a:extLst>
                  <a:ext uri="{FF2B5EF4-FFF2-40B4-BE49-F238E27FC236}">
                    <a16:creationId xmlns:a16="http://schemas.microsoft.com/office/drawing/2014/main" id="{1C505F43-11E9-9791-893D-C4140A939A68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1" name="Google Shape;461;p9">
              <a:extLst>
                <a:ext uri="{FF2B5EF4-FFF2-40B4-BE49-F238E27FC236}">
                  <a16:creationId xmlns:a16="http://schemas.microsoft.com/office/drawing/2014/main" id="{EF77F951-5952-D599-338D-82E095CBA792}"/>
                </a:ext>
              </a:extLst>
            </p:cNvPr>
            <p:cNvGrpSpPr/>
            <p:nvPr/>
          </p:nvGrpSpPr>
          <p:grpSpPr>
            <a:xfrm>
              <a:off x="380497" y="-84403"/>
              <a:ext cx="254000" cy="338403"/>
              <a:chOff x="0" y="-111436"/>
              <a:chExt cx="335351" cy="446787"/>
            </a:xfrm>
          </p:grpSpPr>
          <p:sp>
            <p:nvSpPr>
              <p:cNvPr id="462" name="Google Shape;462;p9">
                <a:extLst>
                  <a:ext uri="{FF2B5EF4-FFF2-40B4-BE49-F238E27FC236}">
                    <a16:creationId xmlns:a16="http://schemas.microsoft.com/office/drawing/2014/main" id="{20BF475B-EDFC-E2FD-6180-693851FB5034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9">
                <a:extLst>
                  <a:ext uri="{FF2B5EF4-FFF2-40B4-BE49-F238E27FC236}">
                    <a16:creationId xmlns:a16="http://schemas.microsoft.com/office/drawing/2014/main" id="{0CA3B595-8779-010E-2C58-E686103120A3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9">
              <a:extLst>
                <a:ext uri="{FF2B5EF4-FFF2-40B4-BE49-F238E27FC236}">
                  <a16:creationId xmlns:a16="http://schemas.microsoft.com/office/drawing/2014/main" id="{3960C3D2-3612-C57A-E1E8-37280C4BC59B}"/>
                </a:ext>
              </a:extLst>
            </p:cNvPr>
            <p:cNvGrpSpPr/>
            <p:nvPr/>
          </p:nvGrpSpPr>
          <p:grpSpPr>
            <a:xfrm>
              <a:off x="761497" y="-84403"/>
              <a:ext cx="254000" cy="338403"/>
              <a:chOff x="0" y="-111436"/>
              <a:chExt cx="335351" cy="446787"/>
            </a:xfrm>
          </p:grpSpPr>
          <p:sp>
            <p:nvSpPr>
              <p:cNvPr id="465" name="Google Shape;465;p9">
                <a:extLst>
                  <a:ext uri="{FF2B5EF4-FFF2-40B4-BE49-F238E27FC236}">
                    <a16:creationId xmlns:a16="http://schemas.microsoft.com/office/drawing/2014/main" id="{AA5614DE-3D1B-377D-B483-F62F0FD48FEE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0" tIns="30467" rIns="60950" bIns="30467" anchor="t" anchorCtr="0">
                <a:noAutofit/>
              </a:bodyPr>
              <a:lstStyle/>
              <a:p>
                <a:pPr defTabSz="609630"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9">
                <a:extLst>
                  <a:ext uri="{FF2B5EF4-FFF2-40B4-BE49-F238E27FC236}">
                    <a16:creationId xmlns:a16="http://schemas.microsoft.com/office/drawing/2014/main" id="{8147F2DB-28C1-0719-7350-A2D7422D5DE9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 defTabSz="609630">
                  <a:lnSpc>
                    <a:spcPct val="200000"/>
                  </a:lnSpc>
                  <a:buClr>
                    <a:srgbClr val="000000"/>
                  </a:buClr>
                </a:pPr>
                <a:endParaRPr sz="12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7" name="Google Shape;467;p9">
            <a:extLst>
              <a:ext uri="{FF2B5EF4-FFF2-40B4-BE49-F238E27FC236}">
                <a16:creationId xmlns:a16="http://schemas.microsoft.com/office/drawing/2014/main" id="{1C1AEC74-2E99-13BA-2681-88BA14DAE479}"/>
              </a:ext>
            </a:extLst>
          </p:cNvPr>
          <p:cNvGrpSpPr/>
          <p:nvPr/>
        </p:nvGrpSpPr>
        <p:grpSpPr>
          <a:xfrm rot="-3960000">
            <a:off x="9378311" y="655310"/>
            <a:ext cx="11430000" cy="10160000"/>
            <a:chOff x="0" y="0"/>
            <a:chExt cx="4447135" cy="3953009"/>
          </a:xfrm>
        </p:grpSpPr>
        <p:sp>
          <p:nvSpPr>
            <p:cNvPr id="468" name="Google Shape;468;p9">
              <a:extLst>
                <a:ext uri="{FF2B5EF4-FFF2-40B4-BE49-F238E27FC236}">
                  <a16:creationId xmlns:a16="http://schemas.microsoft.com/office/drawing/2014/main" id="{A44A4036-78FD-0397-E498-903781D2165E}"/>
                </a:ext>
              </a:extLst>
            </p:cNvPr>
            <p:cNvSpPr/>
            <p:nvPr/>
          </p:nvSpPr>
          <p:spPr>
            <a:xfrm>
              <a:off x="0" y="0"/>
              <a:ext cx="4447135" cy="3953009"/>
            </a:xfrm>
            <a:custGeom>
              <a:avLst/>
              <a:gdLst/>
              <a:ahLst/>
              <a:cxnLst/>
              <a:rect l="l" t="t" r="r" b="b"/>
              <a:pathLst>
                <a:path w="4447135" h="3953009" extrusionOk="0">
                  <a:moveTo>
                    <a:pt x="0" y="0"/>
                  </a:moveTo>
                  <a:lnTo>
                    <a:pt x="4447135" y="0"/>
                  </a:lnTo>
                  <a:lnTo>
                    <a:pt x="4447135" y="3953009"/>
                  </a:lnTo>
                  <a:lnTo>
                    <a:pt x="0" y="3953009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526E79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0950" tIns="30467" rIns="60950" bIns="30467" anchor="t" anchorCtr="0">
              <a:noAutofit/>
            </a:bodyPr>
            <a:lstStyle/>
            <a:p>
              <a:pPr defTabSz="609630"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9">
              <a:extLst>
                <a:ext uri="{FF2B5EF4-FFF2-40B4-BE49-F238E27FC236}">
                  <a16:creationId xmlns:a16="http://schemas.microsoft.com/office/drawing/2014/main" id="{7AA3457B-7159-49FB-9759-CC777E1E8BC9}"/>
                </a:ext>
              </a:extLst>
            </p:cNvPr>
            <p:cNvSpPr txBox="1"/>
            <p:nvPr/>
          </p:nvSpPr>
          <p:spPr>
            <a:xfrm>
              <a:off x="0" y="19050"/>
              <a:ext cx="4447135" cy="3933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 defTabSz="609630">
                <a:lnSpc>
                  <a:spcPct val="77055"/>
                </a:lnSpc>
                <a:buClr>
                  <a:srgbClr val="000000"/>
                </a:buClr>
              </a:pPr>
              <a:endParaRPr sz="12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9">
            <a:extLst>
              <a:ext uri="{FF2B5EF4-FFF2-40B4-BE49-F238E27FC236}">
                <a16:creationId xmlns:a16="http://schemas.microsoft.com/office/drawing/2014/main" id="{A91FEA2D-C57D-5D74-796B-A0B0EADE6CFE}"/>
              </a:ext>
            </a:extLst>
          </p:cNvPr>
          <p:cNvSpPr/>
          <p:nvPr/>
        </p:nvSpPr>
        <p:spPr>
          <a:xfrm rot="2790752">
            <a:off x="11386716" y="1035634"/>
            <a:ext cx="1610568" cy="1524000"/>
          </a:xfrm>
          <a:custGeom>
            <a:avLst/>
            <a:gdLst/>
            <a:ahLst/>
            <a:cxnLst/>
            <a:rect l="l" t="t" r="r" b="b"/>
            <a:pathLst>
              <a:path w="2415852" h="2286000" extrusionOk="0">
                <a:moveTo>
                  <a:pt x="0" y="0"/>
                </a:moveTo>
                <a:lnTo>
                  <a:pt x="2415852" y="0"/>
                </a:lnTo>
                <a:lnTo>
                  <a:pt x="2415852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defTabSz="609630">
              <a:buClr>
                <a:srgbClr val="000000"/>
              </a:buClr>
            </a:pPr>
            <a:endParaRPr sz="12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>
            <a:extLst>
              <a:ext uri="{FF2B5EF4-FFF2-40B4-BE49-F238E27FC236}">
                <a16:creationId xmlns:a16="http://schemas.microsoft.com/office/drawing/2014/main" id="{71A6157D-3FBC-5CDD-BA23-86468649B260}"/>
              </a:ext>
            </a:extLst>
          </p:cNvPr>
          <p:cNvSpPr txBox="1"/>
          <p:nvPr/>
        </p:nvSpPr>
        <p:spPr>
          <a:xfrm>
            <a:off x="685801" y="336552"/>
            <a:ext cx="1656259" cy="287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>
              <a:lnSpc>
                <a:spcPct val="140000"/>
              </a:lnSpc>
              <a:buClr>
                <a:srgbClr val="000000"/>
              </a:buClr>
            </a:pPr>
            <a:r>
              <a:rPr lang="en-US" sz="1333" kern="0">
                <a:solidFill>
                  <a:srgbClr val="526E79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HumanCentric Labs</a:t>
            </a:r>
            <a:endParaRPr sz="12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C7693F-AA31-ED7C-47E6-5B260101D105}"/>
              </a:ext>
            </a:extLst>
          </p:cNvPr>
          <p:cNvSpPr txBox="1"/>
          <p:nvPr/>
        </p:nvSpPr>
        <p:spPr>
          <a:xfrm>
            <a:off x="887982" y="764505"/>
            <a:ext cx="3780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HumanCentric Labs 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880260-DB79-9EE3-6574-3321BFA04636}"/>
              </a:ext>
            </a:extLst>
          </p:cNvPr>
          <p:cNvGrpSpPr/>
          <p:nvPr/>
        </p:nvGrpSpPr>
        <p:grpSpPr>
          <a:xfrm>
            <a:off x="2032289" y="2059299"/>
            <a:ext cx="7596554" cy="3155180"/>
            <a:chOff x="1904214" y="2291024"/>
            <a:chExt cx="7596554" cy="315518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618612-DF41-44D8-0A5C-0A800C793BB7}"/>
                </a:ext>
              </a:extLst>
            </p:cNvPr>
            <p:cNvSpPr txBox="1"/>
            <p:nvPr/>
          </p:nvSpPr>
          <p:spPr>
            <a:xfrm>
              <a:off x="1904214" y="2291024"/>
              <a:ext cx="7596554" cy="3155180"/>
            </a:xfrm>
            <a:prstGeom prst="rect">
              <a:avLst/>
            </a:prstGeom>
            <a:solidFill>
              <a:srgbClr val="D1DDE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A79145F-CE77-480B-FE6C-50399D6191AE}"/>
                </a:ext>
              </a:extLst>
            </p:cNvPr>
            <p:cNvGrpSpPr/>
            <p:nvPr/>
          </p:nvGrpSpPr>
          <p:grpSpPr>
            <a:xfrm>
              <a:off x="1974552" y="2391797"/>
              <a:ext cx="7370608" cy="2963976"/>
              <a:chOff x="2120202" y="2743488"/>
              <a:chExt cx="7370608" cy="3428677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04D91B-527A-974D-81A5-D5136A399A86}"/>
                  </a:ext>
                </a:extLst>
              </p:cNvPr>
              <p:cNvSpPr txBox="1"/>
              <p:nvPr/>
            </p:nvSpPr>
            <p:spPr>
              <a:xfrm>
                <a:off x="2150683" y="2743488"/>
                <a:ext cx="66347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Began Journey in 2011 – Use Cases; Learning 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D41926-499F-1A54-D1BB-1031CF464E4E}"/>
                  </a:ext>
                </a:extLst>
              </p:cNvPr>
              <p:cNvSpPr txBox="1"/>
              <p:nvPr/>
            </p:nvSpPr>
            <p:spPr>
              <a:xfrm>
                <a:off x="2120203" y="3709800"/>
                <a:ext cx="73706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First AI Application 2024 – Jobs to Services at Scale 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8CF19C-018A-DC89-0096-C4A1604A326F}"/>
                  </a:ext>
                </a:extLst>
              </p:cNvPr>
              <p:cNvSpPr txBox="1"/>
              <p:nvPr/>
            </p:nvSpPr>
            <p:spPr>
              <a:xfrm>
                <a:off x="2120203" y="4710150"/>
                <a:ext cx="55034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First Step – POC; Foundation to Scale 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45AC17-3BF3-EC62-6C8B-553F57DFB38D}"/>
                  </a:ext>
                </a:extLst>
              </p:cNvPr>
              <p:cNvSpPr txBox="1"/>
              <p:nvPr/>
            </p:nvSpPr>
            <p:spPr>
              <a:xfrm>
                <a:off x="2120202" y="5684350"/>
                <a:ext cx="3545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  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6E9A44-9B15-A136-5683-43B0B274DC92}"/>
                  </a:ext>
                </a:extLst>
              </p:cNvPr>
              <p:cNvSpPr txBox="1"/>
              <p:nvPr/>
            </p:nvSpPr>
            <p:spPr>
              <a:xfrm>
                <a:off x="2120202" y="5710500"/>
                <a:ext cx="61773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Goal – Margin Acceleration in 18-24 Months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C979A7E-935D-F12A-988F-FB6B248C28DA}"/>
              </a:ext>
            </a:extLst>
          </p:cNvPr>
          <p:cNvSpPr txBox="1"/>
          <p:nvPr/>
        </p:nvSpPr>
        <p:spPr>
          <a:xfrm>
            <a:off x="2133108" y="5631830"/>
            <a:ext cx="6998070" cy="461665"/>
          </a:xfrm>
          <a:prstGeom prst="rect">
            <a:avLst/>
          </a:prstGeom>
          <a:solidFill>
            <a:srgbClr val="8DABB5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Mission – Foster Highly Adaptable Organizations  </a:t>
            </a:r>
          </a:p>
        </p:txBody>
      </p:sp>
    </p:spTree>
    <p:extLst>
      <p:ext uri="{BB962C8B-B14F-4D97-AF65-F5344CB8AC3E}">
        <p14:creationId xmlns:p14="http://schemas.microsoft.com/office/powerpoint/2010/main" val="15962809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219</Words>
  <Application>Microsoft Office PowerPoint</Application>
  <PresentationFormat>Widescreen</PresentationFormat>
  <Paragraphs>47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Helvetica Neue</vt:lpstr>
      <vt:lpstr>Poppins ExtraLight</vt:lpstr>
      <vt:lpstr>1_Office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Grove</dc:creator>
  <cp:lastModifiedBy>Michael Grove</cp:lastModifiedBy>
  <cp:revision>1</cp:revision>
  <dcterms:created xsi:type="dcterms:W3CDTF">2026-05-15T04:10:31Z</dcterms:created>
  <dcterms:modified xsi:type="dcterms:W3CDTF">2026-07-09T22:02:06Z</dcterms:modified>
</cp:coreProperties>
</file>