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147477209" r:id="rId4"/>
    <p:sldId id="258" r:id="rId5"/>
    <p:sldId id="2147473163" r:id="rId6"/>
    <p:sldId id="259" r:id="rId7"/>
    <p:sldId id="2147473156" r:id="rId8"/>
    <p:sldId id="260" r:id="rId9"/>
    <p:sldId id="261" r:id="rId10"/>
    <p:sldId id="2147477210" r:id="rId11"/>
    <p:sldId id="262" r:id="rId12"/>
    <p:sldId id="263" r:id="rId13"/>
    <p:sldId id="264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Grove" userId="0dc58ccd8943caae" providerId="LiveId" clId="{C98CFB22-B9DC-4C59-8C05-2718BBE8D9B2}"/>
    <pc:docChg chg="custSel modSld">
      <pc:chgData name="Michael Grove" userId="0dc58ccd8943caae" providerId="LiveId" clId="{C98CFB22-B9DC-4C59-8C05-2718BBE8D9B2}" dt="2026-08-13T18:01:12.751" v="4" actId="1076"/>
      <pc:docMkLst>
        <pc:docMk/>
      </pc:docMkLst>
      <pc:sldChg chg="delSp modSp mod">
        <pc:chgData name="Michael Grove" userId="0dc58ccd8943caae" providerId="LiveId" clId="{C98CFB22-B9DC-4C59-8C05-2718BBE8D9B2}" dt="2026-08-13T18:01:12.751" v="4" actId="1076"/>
        <pc:sldMkLst>
          <pc:docMk/>
          <pc:sldMk cId="478266563" sldId="2147473163"/>
        </pc:sldMkLst>
        <pc:spChg chg="del">
          <ac:chgData name="Michael Grove" userId="0dc58ccd8943caae" providerId="LiveId" clId="{C98CFB22-B9DC-4C59-8C05-2718BBE8D9B2}" dt="2026-08-13T18:00:56.603" v="3" actId="478"/>
          <ac:spMkLst>
            <pc:docMk/>
            <pc:sldMk cId="478266563" sldId="2147473163"/>
            <ac:spMk id="2" creationId="{33F9D711-70D8-3A0C-839A-7CF2DDB6FEFC}"/>
          </ac:spMkLst>
        </pc:spChg>
        <pc:spChg chg="del">
          <ac:chgData name="Michael Grove" userId="0dc58ccd8943caae" providerId="LiveId" clId="{C98CFB22-B9DC-4C59-8C05-2718BBE8D9B2}" dt="2026-08-13T18:00:56.603" v="3" actId="478"/>
          <ac:spMkLst>
            <pc:docMk/>
            <pc:sldMk cId="478266563" sldId="2147473163"/>
            <ac:spMk id="3" creationId="{B74A7A21-6044-8BE1-816F-D1D7A24A6EF9}"/>
          </ac:spMkLst>
        </pc:spChg>
        <pc:spChg chg="del">
          <ac:chgData name="Michael Grove" userId="0dc58ccd8943caae" providerId="LiveId" clId="{C98CFB22-B9DC-4C59-8C05-2718BBE8D9B2}" dt="2026-08-13T18:00:43.941" v="2" actId="478"/>
          <ac:spMkLst>
            <pc:docMk/>
            <pc:sldMk cId="478266563" sldId="2147473163"/>
            <ac:spMk id="17" creationId="{2C20566E-436A-36BA-9677-83AECA03F671}"/>
          </ac:spMkLst>
        </pc:spChg>
        <pc:picChg chg="mod">
          <ac:chgData name="Michael Grove" userId="0dc58ccd8943caae" providerId="LiveId" clId="{C98CFB22-B9DC-4C59-8C05-2718BBE8D9B2}" dt="2026-08-13T18:01:12.751" v="4" actId="1076"/>
          <ac:picMkLst>
            <pc:docMk/>
            <pc:sldMk cId="478266563" sldId="2147473163"/>
            <ac:picMk id="4" creationId="{C1E9EBE5-897C-9F06-A626-172789D5C5D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4634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34C6D-1CB7-618A-D6A8-C6693CFA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7FA6D-FCBB-E9E5-41DD-C01FAD3D1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A83DBD-8BBE-E63E-1A1E-18E5409D01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0156C-4BF3-ED6F-807C-7E3FC24C81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4505E3-BA92-4F46-8728-C98BDD0B658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14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FF9D34-06CD-71D3-D859-024288054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EF4-44E3-483C-A447-96B5B3F7E9F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CBD8D-F728-B5B6-56FD-B8C9183CB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4910C-F6BB-BB2D-A988-ACA5709C2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BDC7-B60E-4754-AE61-B933C536B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0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DEEA-1B1C-03A4-584F-19193965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BC393-3124-2DD7-B106-5772D25F6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7BDB9-2444-2ABC-E759-E06826D03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5BEF4-44E3-483C-A447-96B5B3F7E9F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5D80B-7258-D4B2-F212-EBE2106DA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A3D41-A45B-6970-B5C3-AFEB6185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DBDC7-B60E-4754-AE61-B933C536BF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53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45720" cy="219456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58368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58368" y="221284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SMMS™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58368" y="2798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23">
            <a:extLst>
              <a:ext uri="{FF2B5EF4-FFF2-40B4-BE49-F238E27FC236}">
                <a16:creationId xmlns:a16="http://schemas.microsoft.com/office/drawing/2014/main" id="{FAB6C8CE-C109-2530-A0E5-18F04F0B1F49}"/>
              </a:ext>
            </a:extLst>
          </p:cNvPr>
          <p:cNvSpPr/>
          <p:nvPr/>
        </p:nvSpPr>
        <p:spPr>
          <a:xfrm>
            <a:off x="5394960" y="4128516"/>
            <a:ext cx="1517904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3">
            <a:extLst>
              <a:ext uri="{FF2B5EF4-FFF2-40B4-BE49-F238E27FC236}">
                <a16:creationId xmlns:a16="http://schemas.microsoft.com/office/drawing/2014/main" id="{7D2F9D6D-A49B-5CBB-DCDD-7B9F60DAA376}"/>
              </a:ext>
            </a:extLst>
          </p:cNvPr>
          <p:cNvSpPr/>
          <p:nvPr/>
        </p:nvSpPr>
        <p:spPr>
          <a:xfrm>
            <a:off x="5282418" y="3146240"/>
            <a:ext cx="1517904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Management System (SMMS)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1517904" cy="3456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1517904" cy="292608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1444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75104" y="27157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66544" y="1115568"/>
            <a:ext cx="1517904" cy="3456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66544" y="1115568"/>
            <a:ext cx="1517904" cy="292608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57984" y="1161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139696" y="1444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Process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84448" y="27157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75888" y="1115568"/>
            <a:ext cx="1517904" cy="3456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75888" y="1115568"/>
            <a:ext cx="1517904" cy="292608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67328" y="1161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444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Profile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Projects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93792" y="27157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85232" y="1115568"/>
            <a:ext cx="1517904" cy="3456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85232" y="1115568"/>
            <a:ext cx="1517904" cy="292608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76672" y="1161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8384" y="1444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Scale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85232" y="2207218"/>
            <a:ext cx="1517904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285232" y="2219878"/>
            <a:ext cx="1517904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94960" y="231131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88629" y="324612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Assessment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309147" y="3835908"/>
            <a:ext cx="15179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803136" y="2715768"/>
            <a:ext cx="109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94576" y="1115568"/>
            <a:ext cx="1517904" cy="34564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94576" y="1115568"/>
            <a:ext cx="1517904" cy="292608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986016" y="116128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967728" y="14447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94576" y="2207218"/>
            <a:ext cx="1517904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94576" y="2395728"/>
            <a:ext cx="1517904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04304" y="2487168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94576" y="2816352"/>
            <a:ext cx="15179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004304" y="2907792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94576" y="3236976"/>
            <a:ext cx="1517904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04304" y="3328416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894576" y="3657600"/>
            <a:ext cx="1517904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04304" y="3749040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/ Training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94576" y="4078224"/>
            <a:ext cx="1517904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04304" y="416966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Contribution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90EF3780-55D2-592D-8D4B-147CDF0C56D2}"/>
              </a:ext>
            </a:extLst>
          </p:cNvPr>
          <p:cNvSpPr/>
          <p:nvPr/>
        </p:nvSpPr>
        <p:spPr>
          <a:xfrm>
            <a:off x="5309147" y="2624328"/>
            <a:ext cx="15179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5FF04CB9-F041-1362-836C-C050B86B6C71}"/>
              </a:ext>
            </a:extLst>
          </p:cNvPr>
          <p:cNvSpPr/>
          <p:nvPr/>
        </p:nvSpPr>
        <p:spPr>
          <a:xfrm>
            <a:off x="5394960" y="268739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Flow </a:t>
            </a:r>
            <a:endParaRPr lang="en-US" sz="950" dirty="0"/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95FA2EF4-30FA-07A5-6AFB-62E5660EDE49}"/>
              </a:ext>
            </a:extLst>
          </p:cNvPr>
          <p:cNvSpPr/>
          <p:nvPr/>
        </p:nvSpPr>
        <p:spPr>
          <a:xfrm>
            <a:off x="5399180" y="2931004"/>
            <a:ext cx="1335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 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4738B5-9F72-24CC-70DF-AB50DBA27A1F}"/>
              </a:ext>
            </a:extLst>
          </p:cNvPr>
          <p:cNvSpPr txBox="1"/>
          <p:nvPr/>
        </p:nvSpPr>
        <p:spPr>
          <a:xfrm>
            <a:off x="568341" y="286055"/>
            <a:ext cx="5006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Service Model Management System (SMMS)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F25E6-2253-F820-005A-CA97381154E4}"/>
              </a:ext>
            </a:extLst>
          </p:cNvPr>
          <p:cNvSpPr txBox="1"/>
          <p:nvPr/>
        </p:nvSpPr>
        <p:spPr>
          <a:xfrm>
            <a:off x="2314514" y="2071906"/>
            <a:ext cx="1306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Initial 4- Step Implementation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CBBF6-634A-ED95-A6F1-6D5F873FC7FF}"/>
              </a:ext>
            </a:extLst>
          </p:cNvPr>
          <p:cNvSpPr txBox="1"/>
          <p:nvPr/>
        </p:nvSpPr>
        <p:spPr>
          <a:xfrm>
            <a:off x="7082034" y="2974346"/>
            <a:ext cx="1203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Feedback Loop and Scale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594583-C389-6786-C401-B396BAADF701}"/>
              </a:ext>
            </a:extLst>
          </p:cNvPr>
          <p:cNvSpPr txBox="1"/>
          <p:nvPr/>
        </p:nvSpPr>
        <p:spPr>
          <a:xfrm>
            <a:off x="1618505" y="1563325"/>
            <a:ext cx="83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Set up and Premises 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2F4CB-0B25-FA66-BAC4-4E6C51EBC8C3}"/>
              </a:ext>
            </a:extLst>
          </p:cNvPr>
          <p:cNvSpPr txBox="1"/>
          <p:nvPr/>
        </p:nvSpPr>
        <p:spPr>
          <a:xfrm>
            <a:off x="3704623" y="2502966"/>
            <a:ext cx="762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Monthly Review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5B10F1-9565-805A-9A3F-EB07A87D017D}"/>
              </a:ext>
            </a:extLst>
          </p:cNvPr>
          <p:cNvSpPr txBox="1"/>
          <p:nvPr/>
        </p:nvSpPr>
        <p:spPr>
          <a:xfrm>
            <a:off x="5028442" y="2488285"/>
            <a:ext cx="1039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Quartey assessment 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3AD67A-7B32-0ED7-0CB3-5F00E180F1FF}"/>
              </a:ext>
            </a:extLst>
          </p:cNvPr>
          <p:cNvSpPr txBox="1"/>
          <p:nvPr/>
        </p:nvSpPr>
        <p:spPr>
          <a:xfrm>
            <a:off x="3704623" y="3019432"/>
            <a:ext cx="1254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Project Flow Stream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66491B-A215-3766-6C91-180A043B6498}"/>
              </a:ext>
            </a:extLst>
          </p:cNvPr>
          <p:cNvSpPr txBox="1"/>
          <p:nvPr/>
        </p:nvSpPr>
        <p:spPr>
          <a:xfrm>
            <a:off x="3704623" y="3458014"/>
            <a:ext cx="1147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Applications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8254D-BA3D-5477-D6A6-59CD305900C7}"/>
              </a:ext>
            </a:extLst>
          </p:cNvPr>
          <p:cNvSpPr txBox="1"/>
          <p:nvPr/>
        </p:nvSpPr>
        <p:spPr>
          <a:xfrm>
            <a:off x="5065675" y="2996349"/>
            <a:ext cx="114771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Lessons</a:t>
            </a:r>
          </a:p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Focus</a:t>
            </a:r>
          </a:p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Training</a:t>
            </a:r>
          </a:p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Margin     Contribution</a:t>
            </a:r>
          </a:p>
          <a:p>
            <a:pPr marL="171458" indent="-171458" defTabSz="457223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Next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08E86-300D-D042-DA1A-2D8AED8ABFC3}"/>
              </a:ext>
            </a:extLst>
          </p:cNvPr>
          <p:cNvSpPr txBox="1"/>
          <p:nvPr/>
        </p:nvSpPr>
        <p:spPr>
          <a:xfrm>
            <a:off x="596017" y="1102803"/>
            <a:ext cx="1190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23">
              <a:buClr>
                <a:srgbClr val="000000"/>
              </a:buClr>
            </a:pPr>
            <a:r>
              <a:rPr lang="en-US" sz="1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Service Model Technology  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D23C34D-E0F6-1994-CF2D-A2E94A3C359F}"/>
              </a:ext>
            </a:extLst>
          </p:cNvPr>
          <p:cNvSpPr/>
          <p:nvPr/>
        </p:nvSpPr>
        <p:spPr>
          <a:xfrm>
            <a:off x="6536266" y="2974347"/>
            <a:ext cx="439097" cy="415498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23">
              <a:buClr>
                <a:srgbClr val="000000"/>
              </a:buClr>
            </a:pPr>
            <a:endParaRPr lang="en-US" sz="700" kern="0">
              <a:solidFill>
                <a:srgbClr val="FFFFFF"/>
              </a:solidFill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66902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TIMELINE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10-Week Implementation Path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05840" y="1188720"/>
            <a:ext cx="9144" cy="329184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5840" y="4480560"/>
            <a:ext cx="7680960" cy="9144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713232" y="43525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850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3000240"/>
            <a:ext cx="76809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713232" y="1413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1548720"/>
            <a:ext cx="768096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250545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5840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73936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73936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42032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542032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10128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10128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78224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078224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14416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14416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82512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82512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50608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50608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18704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918704" y="455371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686800" y="1188720"/>
            <a:ext cx="9144" cy="32918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335729" y="4247736"/>
            <a:ext cx="128016" cy="128016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960125" y="397764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POC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075693" y="3980445"/>
            <a:ext cx="128016" cy="128016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1650150" y="3691709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Scope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17179" y="3537314"/>
            <a:ext cx="128016" cy="128016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2272284" y="3258781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SOW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46120" y="3410708"/>
            <a:ext cx="128016" cy="128016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2816352" y="291693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Agree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014216" y="2857850"/>
            <a:ext cx="128016" cy="128016"/>
          </a:xfrm>
          <a:prstGeom prst="ellipse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2" name="Text 40"/>
          <p:cNvSpPr/>
          <p:nvPr/>
        </p:nvSpPr>
        <p:spPr>
          <a:xfrm>
            <a:off x="3553499" y="23042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Process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Exercise 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166360" y="2935224"/>
            <a:ext cx="128016" cy="128016"/>
          </a:xfrm>
          <a:prstGeom prst="ellipse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4727448" y="23591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34456" y="1536192"/>
            <a:ext cx="128016" cy="128016"/>
          </a:xfrm>
          <a:prstGeom prst="ellipse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6" name="Text 44"/>
          <p:cNvSpPr/>
          <p:nvPr/>
        </p:nvSpPr>
        <p:spPr>
          <a:xfrm>
            <a:off x="5495544" y="96012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02552" y="2194560"/>
            <a:ext cx="128016" cy="12801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48" name="Text 46"/>
          <p:cNvSpPr/>
          <p:nvPr/>
        </p:nvSpPr>
        <p:spPr>
          <a:xfrm>
            <a:off x="6263640" y="16184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wks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70648" y="1536192"/>
            <a:ext cx="128016" cy="12801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0" name="Text 48"/>
          <p:cNvSpPr/>
          <p:nvPr/>
        </p:nvSpPr>
        <p:spPr>
          <a:xfrm>
            <a:off x="7031736" y="960120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mo's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38744" y="2194560"/>
            <a:ext cx="128016" cy="128016"/>
          </a:xfrm>
          <a:prstGeom prst="ellipse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2" name="Text 50"/>
          <p:cNvSpPr/>
          <p:nvPr/>
        </p:nvSpPr>
        <p:spPr>
          <a:xfrm>
            <a:off x="7799832" y="161848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75904" y="2249424"/>
            <a:ext cx="256032" cy="18288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8434426" y="214884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1">
            <a:extLst>
              <a:ext uri="{FF2B5EF4-FFF2-40B4-BE49-F238E27FC236}">
                <a16:creationId xmlns:a16="http://schemas.microsoft.com/office/drawing/2014/main" id="{C1E9EBE5-897C-9F06-A626-172789D5C5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587" y="155121"/>
            <a:ext cx="8591756" cy="48332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23B0B2-6DB9-C07B-22D3-79B2F6CF024A}"/>
              </a:ext>
            </a:extLst>
          </p:cNvPr>
          <p:cNvSpPr txBox="1"/>
          <p:nvPr/>
        </p:nvSpPr>
        <p:spPr>
          <a:xfrm>
            <a:off x="1777181" y="3908323"/>
            <a:ext cx="6535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F5AE3C-6295-EEDC-6D1E-5B80760EA103}"/>
              </a:ext>
            </a:extLst>
          </p:cNvPr>
          <p:cNvSpPr txBox="1"/>
          <p:nvPr/>
        </p:nvSpPr>
        <p:spPr>
          <a:xfrm>
            <a:off x="2397543" y="3908323"/>
            <a:ext cx="6535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891FE1-E9F7-6134-D135-E90DA39AE661}"/>
              </a:ext>
            </a:extLst>
          </p:cNvPr>
          <p:cNvSpPr txBox="1"/>
          <p:nvPr/>
        </p:nvSpPr>
        <p:spPr>
          <a:xfrm>
            <a:off x="3056172" y="3908323"/>
            <a:ext cx="6535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A7C44-E376-3F46-AB1C-CA03FC0A4E35}"/>
              </a:ext>
            </a:extLst>
          </p:cNvPr>
          <p:cNvSpPr txBox="1"/>
          <p:nvPr/>
        </p:nvSpPr>
        <p:spPr>
          <a:xfrm>
            <a:off x="3676535" y="3908323"/>
            <a:ext cx="6535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129595-ACAC-D7FC-44DA-BA43562D2FA5}"/>
              </a:ext>
            </a:extLst>
          </p:cNvPr>
          <p:cNvSpPr txBox="1"/>
          <p:nvPr/>
        </p:nvSpPr>
        <p:spPr>
          <a:xfrm>
            <a:off x="4261818" y="3908323"/>
            <a:ext cx="6535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6E717E-1923-2C8D-F515-47B75F840F4D}"/>
              </a:ext>
            </a:extLst>
          </p:cNvPr>
          <p:cNvSpPr txBox="1"/>
          <p:nvPr/>
        </p:nvSpPr>
        <p:spPr>
          <a:xfrm>
            <a:off x="4847102" y="3908323"/>
            <a:ext cx="65351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BB1F80-9CC7-68FB-FB45-C1B75254D59B}"/>
              </a:ext>
            </a:extLst>
          </p:cNvPr>
          <p:cNvSpPr txBox="1"/>
          <p:nvPr/>
        </p:nvSpPr>
        <p:spPr>
          <a:xfrm>
            <a:off x="5432385" y="3908323"/>
            <a:ext cx="68877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7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71276-4BD6-F98D-3E30-C67E537103D1}"/>
              </a:ext>
            </a:extLst>
          </p:cNvPr>
          <p:cNvSpPr txBox="1"/>
          <p:nvPr/>
        </p:nvSpPr>
        <p:spPr>
          <a:xfrm>
            <a:off x="6017668" y="3911516"/>
            <a:ext cx="68877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8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B94B71-2F33-12B9-4A50-0B9BFFD3598F}"/>
              </a:ext>
            </a:extLst>
          </p:cNvPr>
          <p:cNvSpPr txBox="1"/>
          <p:nvPr/>
        </p:nvSpPr>
        <p:spPr>
          <a:xfrm>
            <a:off x="6634210" y="3908323"/>
            <a:ext cx="688778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9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1E5C7B-9036-0534-D20D-C69DB937787F}"/>
              </a:ext>
            </a:extLst>
          </p:cNvPr>
          <p:cNvSpPr txBox="1"/>
          <p:nvPr/>
        </p:nvSpPr>
        <p:spPr>
          <a:xfrm>
            <a:off x="7215584" y="3908323"/>
            <a:ext cx="767326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200" dirty="0"/>
              <a:t>Week 10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11751B-75A8-E4DA-9375-36FA98F8DCDD}"/>
              </a:ext>
            </a:extLst>
          </p:cNvPr>
          <p:cNvSpPr/>
          <p:nvPr/>
        </p:nvSpPr>
        <p:spPr>
          <a:xfrm>
            <a:off x="125361" y="4391025"/>
            <a:ext cx="8672052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478266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89888"/>
            <a:ext cx="8229600" cy="512064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85216" y="15179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645920" y="1517904"/>
            <a:ext cx="9144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755648" y="151790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Introduction — Create Service Profile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56816"/>
            <a:ext cx="82296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2084832"/>
            <a:ext cx="9144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55648" y="208483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Profile and Project Improvements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B553-C03B-5553-D1FA-938FCD98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508DB1-115F-8D2F-52F2-819634DB5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20" y="867079"/>
            <a:ext cx="8515350" cy="3768571"/>
          </a:xfrm>
        </p:spPr>
        <p:txBody>
          <a:bodyPr>
            <a:noAutofit/>
          </a:bodyPr>
          <a:lstStyle/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endParaRPr lang="en-US" sz="1200" dirty="0"/>
          </a:p>
          <a:p>
            <a:pPr marL="685800" lvl="1" indent="-342900">
              <a:buFont typeface="+mj-lt"/>
              <a:buAutoNum type="alphaLcPeriod"/>
            </a:pPr>
            <a:r>
              <a:rPr lang="en-US" sz="1200" dirty="0"/>
              <a:t> </a:t>
            </a:r>
          </a:p>
          <a:p>
            <a:pPr marL="342900" lvl="1" indent="0">
              <a:buNone/>
            </a:pPr>
            <a:endParaRPr lang="en-US" sz="1200" dirty="0"/>
          </a:p>
          <a:p>
            <a:pPr marL="385763" indent="-385763">
              <a:buFont typeface="+mj-lt"/>
              <a:buAutoNum type="arabicPeriod"/>
            </a:pPr>
            <a:r>
              <a:rPr lang="en-US" sz="1200" dirty="0"/>
              <a:t>Session 2 (Day 2) 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Group discussion - Q&amp;A; Review self-assessment; identify individual and team improvements (1.5 hrs.)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Exercise 2 (2.5 hrs.)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200" dirty="0"/>
              <a:t>Review FrameWork Features; Service Profiles (current/future) – modify as needed.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200" dirty="0"/>
              <a:t>Break into groups of 3 – discuss individual and group improvements. </a:t>
            </a:r>
          </a:p>
          <a:p>
            <a:pPr marL="1371600" lvl="3" indent="-342900">
              <a:buFont typeface="+mj-lt"/>
              <a:buAutoNum type="arabicPeriod"/>
            </a:pPr>
            <a:r>
              <a:rPr lang="en-US" sz="1200" dirty="0"/>
              <a:t>Each Group agree on a team project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200" dirty="0"/>
              <a:t>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Step 2 – Review current profile from Exercise 1, review or create 1mo/3mo. future profiles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Step 3 – Create an individual improvement project, actions and outcomes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Step 4 – Create a team project to create the 3-month future profile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200" dirty="0"/>
              <a:t>Participant and Management Discussion (30 minutes)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200" dirty="0"/>
              <a:t>Group Review (1hr)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Summary Results and Opportunities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The Process (Lessons; Improvements)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 Next Steps; Schedule,  for Continuous Improvement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200" dirty="0"/>
              <a:t>Executive Review   (1hr.)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Summary Results, Lessons. Opportunities 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Strategy to Scale – 7-Step Process  </a:t>
            </a:r>
          </a:p>
          <a:p>
            <a:pPr marL="685800" lvl="1" indent="-342900">
              <a:buFont typeface="+mj-lt"/>
              <a:buAutoNum type="arabicPeriod"/>
            </a:pPr>
            <a:r>
              <a:rPr lang="en-US" sz="1200" dirty="0"/>
              <a:t>Execution Team – Roles   </a:t>
            </a:r>
          </a:p>
          <a:p>
            <a:pPr marL="342900" lvl="1" indent="0">
              <a:buNone/>
            </a:pPr>
            <a:endParaRPr lang="en-US" sz="1200" dirty="0"/>
          </a:p>
          <a:p>
            <a:endParaRPr lang="en-US" sz="1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CC4BF6C-A3AB-2751-FBBC-4C3E57C0F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80" y="-27262"/>
            <a:ext cx="7886700" cy="994172"/>
          </a:xfrm>
        </p:spPr>
        <p:txBody>
          <a:bodyPr>
            <a:normAutofit/>
          </a:bodyPr>
          <a:lstStyle/>
          <a:p>
            <a:r>
              <a:rPr lang="en-US" sz="2100" dirty="0"/>
              <a:t>Service Model Introduction – Create Service Profile 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E8B63-B118-31E5-5696-0B8333039535}"/>
              </a:ext>
            </a:extLst>
          </p:cNvPr>
          <p:cNvSpPr txBox="1">
            <a:spLocks/>
          </p:cNvSpPr>
          <p:nvPr/>
        </p:nvSpPr>
        <p:spPr>
          <a:xfrm>
            <a:off x="959936" y="1066742"/>
            <a:ext cx="8515350" cy="376857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5763" indent="-385763">
              <a:buFont typeface="+mj-lt"/>
              <a:buAutoNum type="arabicPeriod"/>
            </a:pPr>
            <a:r>
              <a:rPr lang="en-US" sz="1350" dirty="0"/>
              <a:t>Complete Self-Assessment prior to session. (optional)  (15-20 minutes)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350" dirty="0"/>
              <a:t>Introduction, Assessment Summary and Exercise 1 (1hrs, 40 minutes)</a:t>
            </a:r>
          </a:p>
          <a:p>
            <a:pPr lvl="1" indent="-342900">
              <a:buFont typeface="+mj-lt"/>
              <a:buAutoNum type="alphaLcPeriod"/>
            </a:pPr>
            <a:r>
              <a:rPr lang="en-US" sz="1350" dirty="0"/>
              <a:t>Exercise 1 – 4-step process Introduction </a:t>
            </a:r>
          </a:p>
          <a:p>
            <a:pPr marL="1028700" lvl="2" indent="-342900">
              <a:buFont typeface="+mj-lt"/>
              <a:buAutoNum type="arabicParenR"/>
            </a:pPr>
            <a:r>
              <a:rPr lang="en-US" sz="1350" dirty="0"/>
              <a:t>Projects/tasks per Customer, Service; % FTE – Complete 100% FTE </a:t>
            </a:r>
          </a:p>
          <a:p>
            <a:pPr marL="1028700" lvl="2" indent="-342900">
              <a:buFont typeface="+mj-lt"/>
              <a:buAutoNum type="arabicParenR"/>
            </a:pPr>
            <a:r>
              <a:rPr lang="en-US" sz="1350" dirty="0"/>
              <a:t> Current/future Transformation; 100% FTE</a:t>
            </a:r>
          </a:p>
          <a:p>
            <a:pPr marL="1028700" lvl="2" indent="-342900">
              <a:buFont typeface="+mj-lt"/>
              <a:buAutoNum type="arabicParenR"/>
            </a:pPr>
            <a:r>
              <a:rPr lang="en-US" sz="1350" dirty="0"/>
              <a:t> Individual to Group Services</a:t>
            </a:r>
          </a:p>
          <a:p>
            <a:pPr marL="1028700" lvl="2" indent="-342900">
              <a:buFont typeface="+mj-lt"/>
              <a:buAutoNum type="arabicParenR"/>
            </a:pPr>
            <a:r>
              <a:rPr lang="en-US" sz="1350" dirty="0"/>
              <a:t>Add Service Attributes – Complete; Begin Framework.</a:t>
            </a:r>
          </a:p>
          <a:p>
            <a:pPr lvl="1" indent="-342900">
              <a:buFont typeface="+mj-lt"/>
              <a:buAutoNum type="alphaLcPeriod"/>
            </a:pPr>
            <a:r>
              <a:rPr lang="en-US" sz="1350" dirty="0"/>
              <a:t>Group Discussion</a:t>
            </a:r>
          </a:p>
          <a:p>
            <a:pPr marL="1028700" lvl="2" indent="-342900">
              <a:buFont typeface="+mj-lt"/>
              <a:buAutoNum type="arabicParenR"/>
            </a:pPr>
            <a:r>
              <a:rPr lang="en-US" sz="1350" dirty="0"/>
              <a:t>Break into Teams; Discuss assessment opportunities and Exercise 1 process</a:t>
            </a:r>
          </a:p>
          <a:p>
            <a:pPr marL="1028700" lvl="2" indent="-342900">
              <a:buFont typeface="+mj-lt"/>
              <a:buAutoNum type="arabicParenR"/>
            </a:pPr>
            <a:r>
              <a:rPr lang="en-US" sz="1350" dirty="0"/>
              <a:t>Group Discussion and Next Steps</a:t>
            </a:r>
          </a:p>
          <a:p>
            <a:pPr marL="1028700" lvl="2" indent="-342900">
              <a:buFont typeface="+mj-lt"/>
              <a:buAutoNum type="arabicParenR"/>
            </a:pPr>
            <a:endParaRPr lang="en-US" sz="1350" dirty="0"/>
          </a:p>
          <a:p>
            <a:pPr marL="342900" indent="-342900">
              <a:buFont typeface="+mj-lt"/>
              <a:buAutoNum type="arabicPeriod"/>
            </a:pPr>
            <a:r>
              <a:rPr lang="en-US" sz="1350" dirty="0"/>
              <a:t>Break: Individual Review of exercise and revise; seek as needed Team/Coaching support. .</a:t>
            </a:r>
          </a:p>
          <a:p>
            <a:pPr marL="342900" indent="-342900">
              <a:buFont typeface="+mj-lt"/>
              <a:buAutoNum type="arabicPeriod" startAt="4"/>
            </a:pPr>
            <a:endParaRPr lang="en-US" sz="1350" dirty="0"/>
          </a:p>
          <a:p>
            <a:pPr marL="600075" lvl="1" indent="-257175">
              <a:buFont typeface="+mj-lt"/>
              <a:buAutoNum type="alphaLcPeriod"/>
            </a:pPr>
            <a:endParaRPr lang="en-US" sz="1350" dirty="0"/>
          </a:p>
          <a:p>
            <a:pPr marL="342900" indent="-342900">
              <a:buFont typeface="+mj-lt"/>
              <a:buAutoNum type="arabicPeriod"/>
            </a:pPr>
            <a:endParaRPr lang="en-US" sz="1350" dirty="0"/>
          </a:p>
          <a:p>
            <a:pPr marL="342900" indent="-342900">
              <a:buFont typeface="+mj-lt"/>
              <a:buAutoNum type="arabi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endParaRPr lang="en-US" sz="1350" dirty="0"/>
          </a:p>
          <a:p>
            <a:pPr lvl="1" indent="-342900">
              <a:buFont typeface="+mj-lt"/>
              <a:buAutoNum type="alphaLcPeriod"/>
            </a:pPr>
            <a:r>
              <a:rPr lang="en-US" sz="1350" dirty="0"/>
              <a:t> </a:t>
            </a:r>
          </a:p>
          <a:p>
            <a:pPr marL="342900" lvl="1" indent="0">
              <a:buNone/>
            </a:pPr>
            <a:endParaRPr lang="en-US" sz="1350" dirty="0"/>
          </a:p>
          <a:p>
            <a:pPr marL="385763" indent="-385763">
              <a:buFont typeface="+mj-lt"/>
              <a:buAutoNum type="arabicPeriod"/>
            </a:pPr>
            <a:r>
              <a:rPr lang="en-US" sz="1350" dirty="0"/>
              <a:t>Session 2 (Day 2)  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Group discussion - Q&amp;A; Review self-assessment; identify individual and team improvements (1.5 hrs.)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Exercise 2 (2.5 hrs.)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350" dirty="0"/>
              <a:t>Review FrameWork Features; Service Profiles (current/future) – modify as needed.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350" dirty="0"/>
              <a:t>Break into groups of 3 – discuss individual and group improvements. </a:t>
            </a:r>
          </a:p>
          <a:p>
            <a:pPr marL="1371600" lvl="3" indent="-342900">
              <a:buFont typeface="+mj-lt"/>
              <a:buAutoNum type="arabicPeriod"/>
            </a:pPr>
            <a:r>
              <a:rPr lang="en-US" sz="1350" dirty="0"/>
              <a:t>Each Group agree on a team project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1350" dirty="0"/>
              <a:t> 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Step 2 – Review current profile from Exercise 1, review or create 1mo/3mo. future profiles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Step 3 – Create an individual improvement project, actions and outcomes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Step 4 – Create a team project to create the 3-month future profile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350" dirty="0"/>
              <a:t>Participant and Management Discussion (30 minutes)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350" dirty="0"/>
              <a:t>Group Review (1hr)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Summary Results and Opportunities 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The Process (Lessons; Improvements)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 Next Steps; Schedule,  for Continuous Improvement </a:t>
            </a:r>
          </a:p>
          <a:p>
            <a:pPr marL="385763" indent="-385763">
              <a:buFont typeface="+mj-lt"/>
              <a:buAutoNum type="arabicPeriod"/>
            </a:pPr>
            <a:r>
              <a:rPr lang="en-US" sz="1350" dirty="0"/>
              <a:t>Executive Review   (1hr.)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Summary Results, Lessons. Opportunities  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Strategy to Scale – 7-Step Process  </a:t>
            </a:r>
          </a:p>
          <a:p>
            <a:pPr lvl="1" indent="-342900">
              <a:buFont typeface="+mj-lt"/>
              <a:buAutoNum type="arabicPeriod"/>
            </a:pPr>
            <a:r>
              <a:rPr lang="en-US" sz="1350" dirty="0"/>
              <a:t>Execution Team – Roles   </a:t>
            </a:r>
          </a:p>
          <a:p>
            <a:pPr marL="342900" lvl="1" indent="0">
              <a:buNone/>
            </a:pPr>
            <a:endParaRPr lang="en-US" sz="1350" dirty="0"/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218098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Introduction — Create Service Profile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8229600" cy="30175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15214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Complete Self-Assessment prior to session.  (optional)  ·  15–20 min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822960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Introduction, Assessment Summary and Exercise 1  ·  1 hr 40 min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  —  4-Step Process Introduction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82296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2359152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0976" y="2377440"/>
            <a:ext cx="9144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42416" y="235915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/ Tasks per Customer, Service; % FTE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64224" y="23591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to 100% FTE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66928" y="287121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50976" y="2889504"/>
            <a:ext cx="9144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42416" y="28712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Future Transformation; 100% FTE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475488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" y="3383280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" y="3401568"/>
            <a:ext cx="9144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42416" y="33832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to Group 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03904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895344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" y="3913632"/>
            <a:ext cx="9144" cy="2560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2416" y="389534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Service Attributes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64224" y="38953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attributes; begin Framework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52544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44074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Group Discussion  ·  Break into teams · Discuss assessment opportunities and Exercise 1 process · Group discussion and next steps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Break: individual review and revision; team / coaching support available as needed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Profile and Project Improvements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Exercise 2  ·  2 hrs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517904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14400" y="1536192"/>
            <a:ext cx="9144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151790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Introduction — features walkthrough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82296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8470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1865376"/>
            <a:ext cx="9144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184708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modify current and future service profiles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121408"/>
            <a:ext cx="82296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17627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14400" y="2194560"/>
            <a:ext cx="9144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217627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AI and other applications to current and future profiles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450592"/>
            <a:ext cx="8229600" cy="10607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2505456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4400" y="2523744"/>
            <a:ext cx="9144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250545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individual or team improvement projects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88720" y="276148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self-assessment as source of improvement opportunities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individual and team projects · Modify as desired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team: combine, select, or create a new team project (coaching available)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team project drafts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11296"/>
            <a:ext cx="822960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3566160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14400" y="3584448"/>
            <a:ext cx="9144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5840" y="35661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Discussion — Exercise 2 process, improvement projects, lessons, ongoing process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38953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 Group Review  ·  1 hr  ·  Summary results, opportunities, Framework process, next step recommendations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Executive Review  ·  1 hr  ·  POC process, lessons, strategy to scale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EDD7D21-9698-8EB1-B454-8357D54E9862}"/>
              </a:ext>
            </a:extLst>
          </p:cNvPr>
          <p:cNvSpPr/>
          <p:nvPr/>
        </p:nvSpPr>
        <p:spPr>
          <a:xfrm>
            <a:off x="1607936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 Adaptive System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40674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Each Service — Who Benefits — Its Value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13809" y="1115568"/>
            <a:ext cx="263769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13809" y="1115568"/>
            <a:ext cx="2637692" cy="329184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41825" y="1170432"/>
            <a:ext cx="2432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Teams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41825" y="1517904"/>
            <a:ext cx="2432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·  100% FTE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41825" y="1847088"/>
            <a:ext cx="243253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96689" y="1938528"/>
            <a:ext cx="483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36768" y="1938528"/>
            <a:ext cx="45719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28209" y="1938528"/>
            <a:ext cx="17877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41825" y="2340864"/>
            <a:ext cx="243253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96689" y="2432304"/>
            <a:ext cx="483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36768" y="2432304"/>
            <a:ext cx="45719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28209" y="2432304"/>
            <a:ext cx="17877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41825" y="2834640"/>
            <a:ext cx="243253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596689" y="2926080"/>
            <a:ext cx="483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36768" y="2926080"/>
            <a:ext cx="45719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328209" y="2926080"/>
            <a:ext cx="17877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41825" y="3328416"/>
            <a:ext cx="243253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596689" y="3419856"/>
            <a:ext cx="483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36768" y="3419856"/>
            <a:ext cx="45719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328209" y="3419856"/>
            <a:ext cx="17877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41825" y="3822192"/>
            <a:ext cx="2432538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96689" y="3913632"/>
            <a:ext cx="48357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36768" y="3913632"/>
            <a:ext cx="45719" cy="2377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28209" y="3913632"/>
            <a:ext cx="17877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35663" y="2816352"/>
            <a:ext cx="548640" cy="9144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6207" y="287121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35663" y="25786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994031" y="1115568"/>
            <a:ext cx="2848702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994031" y="1115568"/>
            <a:ext cx="2848702" cy="329184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22047" y="1170432"/>
            <a:ext cx="2675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Customers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2047" y="1517904"/>
            <a:ext cx="2675303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176911" y="1645920"/>
            <a:ext cx="45719" cy="1828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41503" y="1627632"/>
            <a:ext cx="2477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22047" y="2011680"/>
            <a:ext cx="26753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76911" y="2139696"/>
            <a:ext cx="45719" cy="1828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41503" y="2121408"/>
            <a:ext cx="2477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22047" y="2505456"/>
            <a:ext cx="2675303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176911" y="2633472"/>
            <a:ext cx="45719" cy="1828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341503" y="2615184"/>
            <a:ext cx="2477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122047" y="2999232"/>
            <a:ext cx="26753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176911" y="3127248"/>
            <a:ext cx="45719" cy="1828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341503" y="3108960"/>
            <a:ext cx="2477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22047" y="3493008"/>
            <a:ext cx="2675303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176911" y="3621024"/>
            <a:ext cx="45719" cy="1828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341503" y="3602736"/>
            <a:ext cx="2477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Customers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122047" y="3986784"/>
            <a:ext cx="2675303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176911" y="4114800"/>
            <a:ext cx="45719" cy="182880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341503" y="4096512"/>
            <a:ext cx="24771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Customers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122047" y="4315968"/>
            <a:ext cx="26753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Improve Value Exchange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to Improve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65176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651760" cy="329184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1704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·  100% FTE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" y="1499616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Customer(s)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Value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5216" y="1993392"/>
            <a:ext cx="2395728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20848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207008" y="2084832"/>
            <a:ext cx="9144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98448" y="2084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" y="2450592"/>
            <a:ext cx="23957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5420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07008" y="2542032"/>
            <a:ext cx="9144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98448" y="25420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" y="2907792"/>
            <a:ext cx="2395728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29992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207008" y="2999232"/>
            <a:ext cx="9144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98448" y="29992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5216" y="3364992"/>
            <a:ext cx="2395728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207008" y="3456432"/>
            <a:ext cx="9144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98448" y="34564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6" y="3822192"/>
            <a:ext cx="2395728" cy="402336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391363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07008" y="3913632"/>
            <a:ext cx="9144" cy="21945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98448" y="3913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63824" y="265176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 →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55264" y="2889504"/>
            <a:ext cx="804672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206240" y="1115568"/>
            <a:ext cx="2651760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06240" y="1115568"/>
            <a:ext cx="2651760" cy="329184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34256" y="11704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·  100% FTE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34256" y="149961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Low for Higher Value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34256" y="1865376"/>
            <a:ext cx="2395728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425696" y="1920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4256" y="2267712"/>
            <a:ext cx="2395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425696" y="23225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strike="sngStrike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34256" y="2670048"/>
            <a:ext cx="2395728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425696" y="27249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334256" y="3072384"/>
            <a:ext cx="239572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425696" y="31272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4256" y="3474720"/>
            <a:ext cx="2395728" cy="347472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425696" y="35295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34256" y="3877056"/>
            <a:ext cx="2395728" cy="347472"/>
          </a:xfrm>
          <a:prstGeom prst="rect">
            <a:avLst/>
          </a:prstGeom>
          <a:solidFill>
            <a:srgbClr val="EBF8F8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425696" y="39319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6  (new)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967728" y="1115568"/>
            <a:ext cx="1719072" cy="33284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967728" y="1115568"/>
            <a:ext cx="1719072" cy="329184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59168" y="117043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Changes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67728" y="1572768"/>
            <a:ext cx="1719072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077456" y="166420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Distribution of Time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67728" y="2048256"/>
            <a:ext cx="17190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077456" y="2139696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Replace Services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67728" y="2523744"/>
            <a:ext cx="1719072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077456" y="26151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Applications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67728" y="2999232"/>
            <a:ext cx="17190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077456" y="3090672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Upskilling / Reskilling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67728" y="3474720"/>
            <a:ext cx="1719072" cy="42062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077456" y="3566160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Innovation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67728" y="3950208"/>
            <a:ext cx="1719072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077456" y="4041648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Improvements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18288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The Service Model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115568"/>
            <a:ext cx="2194560" cy="28712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2194560" cy="274320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52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 ·  100% FTE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Customer(s) · Increase Value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201168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190195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1 % 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176272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224942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201168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" y="259689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71216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18688"/>
            <a:ext cx="201168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" y="329184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88336" y="2423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3552" y="1115568"/>
            <a:ext cx="2194560" cy="28712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73552" y="1115568"/>
            <a:ext cx="2194560" cy="274320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64992" y="11521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 ·  100% FTE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140817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Low for Higher Value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64992" y="1828800"/>
            <a:ext cx="201168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38144" y="190195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1 % Time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64992" y="2176272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38144" y="2249424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strike="sngStrike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64992" y="2523744"/>
            <a:ext cx="201168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38144" y="2596896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64992" y="2871216"/>
            <a:ext cx="2011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438144" y="2944368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64992" y="3218688"/>
            <a:ext cx="201168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438144" y="329184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64992" y="3566160"/>
            <a:ext cx="2011680" cy="329184"/>
          </a:xfrm>
          <a:prstGeom prst="rect">
            <a:avLst/>
          </a:prstGeom>
          <a:solidFill>
            <a:srgbClr val="EBF8F8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38144" y="3639312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6  (new)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04688" y="2423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Needs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89904" y="1115568"/>
            <a:ext cx="1828800" cy="287121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89904" y="1115568"/>
            <a:ext cx="1828800" cy="274320"/>
          </a:xfrm>
          <a:prstGeom prst="rect">
            <a:avLst/>
          </a:prstGeom>
          <a:solidFill>
            <a:srgbClr val="EDF2F7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81344" y="115214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81344" y="1444752"/>
            <a:ext cx="164592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36208" y="1536192"/>
            <a:ext cx="54864" cy="16459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364224" y="150876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81344" y="1792224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236208" y="1883664"/>
            <a:ext cx="54864" cy="16459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64224" y="185623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81344" y="2139696"/>
            <a:ext cx="164592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236208" y="2231136"/>
            <a:ext cx="54864" cy="16459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364224" y="2203704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81344" y="2487168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36208" y="2578608"/>
            <a:ext cx="54864" cy="16459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364224" y="2551176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81344" y="2834640"/>
            <a:ext cx="1645920" cy="329184"/>
          </a:xfrm>
          <a:prstGeom prst="rect">
            <a:avLst/>
          </a:prstGeom>
          <a:solidFill>
            <a:srgbClr val="EDF2F7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36208" y="2926080"/>
            <a:ext cx="54864" cy="16459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364224" y="2898648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Customers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81344" y="3182112"/>
            <a:ext cx="16459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36208" y="3273552"/>
            <a:ext cx="54864" cy="164592"/>
          </a:xfrm>
          <a:prstGeom prst="rect">
            <a:avLst/>
          </a:prstGeom>
          <a:solidFill>
            <a:srgbClr val="0D7680"/>
          </a:solidFill>
          <a:ln w="12700">
            <a:solidFill>
              <a:srgbClr val="0D76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364224" y="3246120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Customers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133088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57200" y="4206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improvement throughout the value chain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57200" y="4919472"/>
            <a:ext cx="82296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57200" y="49377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HumanCentric Labs  ·  SMMS™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1197</Words>
  <Application>Microsoft Office PowerPoint</Application>
  <PresentationFormat>On-screen Show (16:9)</PresentationFormat>
  <Paragraphs>408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Service Model Introduction – Create Service Profile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 Model Management System — POC</dc:title>
  <dc:subject>PptxGenJS Presentation</dc:subject>
  <dc:creator>HumanCentric Labs</dc:creator>
  <cp:lastModifiedBy>Michael Grove</cp:lastModifiedBy>
  <cp:revision>2</cp:revision>
  <dcterms:created xsi:type="dcterms:W3CDTF">2026-06-02T20:19:25Z</dcterms:created>
  <dcterms:modified xsi:type="dcterms:W3CDTF">2026-08-13T18:01:14Z</dcterms:modified>
</cp:coreProperties>
</file>