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6" r:id="rId3"/>
    <p:sldId id="2147477143" r:id="rId4"/>
    <p:sldId id="2147349019" r:id="rId5"/>
    <p:sldId id="2147477144" r:id="rId6"/>
    <p:sldId id="258" r:id="rId7"/>
    <p:sldId id="257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19CA5-0E0C-40D3-94FC-9AE5E5999A7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57738-E6CF-4ED0-AE8C-D6EE0B722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63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>
          <a:extLst>
            <a:ext uri="{FF2B5EF4-FFF2-40B4-BE49-F238E27FC236}">
              <a16:creationId xmlns:a16="http://schemas.microsoft.com/office/drawing/2014/main" id="{F4FED648-B5A8-1960-6D37-F46125871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>
            <a:extLst>
              <a:ext uri="{FF2B5EF4-FFF2-40B4-BE49-F238E27FC236}">
                <a16:creationId xmlns:a16="http://schemas.microsoft.com/office/drawing/2014/main" id="{553363D9-BAFE-6D46-BC98-2757552748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>
            <a:extLst>
              <a:ext uri="{FF2B5EF4-FFF2-40B4-BE49-F238E27FC236}">
                <a16:creationId xmlns:a16="http://schemas.microsoft.com/office/drawing/2014/main" id="{76FFB60A-316F-F245-B037-B7145367ED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5392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A701-CFDC-07AD-D10C-075455AC8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27A5E4-5C71-6957-1BF3-2DCBF0118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1D14-0360-2791-A7F7-882828539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BFCD0-F198-58FE-296F-AB1025D11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51C07-57F8-FDDD-3034-41CD9B9B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18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749D1-14BA-2EDE-E002-B3EC8F409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D90F-DC31-DAB2-765B-11AFA96F9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7A1B4-71CC-3381-1916-05C2EAC5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B3522-9D06-EED3-22E6-9E22B6012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DD53E-D90E-082D-F0F5-F5E76615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209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7C5C9-167F-2ACA-0874-97C9D0FB9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CFEB6-1703-4DDC-4B50-05E69482F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151C8-15CF-1769-38D1-2E01E4D05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2196C-17D2-CE40-C3A2-84B92EAD1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C805-9C77-14D9-AE81-36BC7CE0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0DA0-032F-A79F-A142-81C27E02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BADA-E005-3785-EFEC-60E3F868C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9D6BAA-A0CC-FED0-CAEC-DC7C56C892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3DD2CD-423B-A9C1-7354-F7EBF4110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BFF81-DF10-099F-7DBC-1DAB667A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91E2D-2475-8EA5-3CB8-B6371A07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77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AAE7F-92DA-0C37-55FE-A4FC06FD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0A8A2-5BFA-D4A6-709C-9DD2B2987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BAC88-68C4-5717-4150-EB7D0596F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20026B-6B7B-B135-397D-C01D887AC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71027-DCE4-0DB0-1500-6B8F34444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DC67B0-20B8-8CE0-F9EE-DF4D0BED5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2B131-E6BB-F700-B5A1-E3214E96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BBE83-E204-438D-4FB1-7D337DDE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52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02151-CDA3-F81F-CDBF-E6AD418F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AD86A-4715-9187-2CF0-97AC1750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2A25E-E7C8-C66D-A3AD-AED3B923F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6DD05C-879F-6602-A84A-1CF02EB80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57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F28C0-DBD6-EC42-509D-609C1B4ED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DC584-BF04-68D3-FC35-C14FD223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79853-0648-3025-F8AB-D0E1AF99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98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E579-1787-8A48-EE1A-73F50BD9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BDDA4-4C03-FA25-379A-0ED560B5D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E62EA0-D569-8573-AC8C-2C64B2522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E3531C-E51D-9759-0814-D6939148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0264B7-3083-8A43-A6C3-FBD9E2B02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4A56F-E8C6-033E-9BCD-4DCF55C2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26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BCEA4-80EC-2086-D1B2-64EF7407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DDE8-40F9-A212-7D67-A46533F93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D2FA53-009E-1261-15F5-DD6091159A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D36127-4D40-996A-04EF-7DB9A90A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BFBF8-14BD-23F2-7C08-2298712A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9575DB-5E6B-2769-6E37-46C59695C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5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B26A-E35E-4FD2-597E-7AD9D6D66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ABAC73-7F44-240C-1378-5EF01AC5A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61A53-A63E-F841-BDF0-376BB8E00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AF0DB-121D-CE58-6477-DED391DFF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F3488-061E-FA3E-40C2-B4AD1763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9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A72761-5819-C856-BC06-D63FA01537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CE9F0-A8B2-70E0-CBA5-0B6AFB103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440B6-D3F5-7E30-6496-38DDFE082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4FC5E-54A8-A568-F256-CA07D7926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21D9C-D060-6C55-87DB-65035B31D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45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5399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FD5C58-9C8E-3F01-EE49-888FFEA83F6E}"/>
              </a:ext>
            </a:extLst>
          </p:cNvPr>
          <p:cNvSpPr txBox="1"/>
          <p:nvPr userDrawn="1"/>
        </p:nvSpPr>
        <p:spPr>
          <a:xfrm>
            <a:off x="5239087" y="6628793"/>
            <a:ext cx="2408032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33" dirty="0">
                <a:solidFill>
                  <a:schemeClr val="tx1"/>
                </a:solidFill>
              </a:rPr>
              <a:t>HCL Proprietary and Copyright Reserved 2026</a:t>
            </a:r>
          </a:p>
        </p:txBody>
      </p:sp>
    </p:spTree>
    <p:extLst>
      <p:ext uri="{BB962C8B-B14F-4D97-AF65-F5344CB8AC3E}">
        <p14:creationId xmlns:p14="http://schemas.microsoft.com/office/powerpoint/2010/main" val="348951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8ECCC-7D99-1F0D-5538-507C50EE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95F9C-D230-4598-BCFC-BD5C5BF4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55F68-1D38-9A00-7539-76E3A093F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4476B8-FC7F-471B-B361-4886622DFE69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C6BC-C064-1ADA-0E89-C77986E2A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88C61-744F-7461-D40F-5E90464EF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90AE30-2994-431E-8D50-DF50B933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8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081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90D662-9C4F-4794-7332-68149802241B}"/>
              </a:ext>
            </a:extLst>
          </p:cNvPr>
          <p:cNvSpPr txBox="1"/>
          <p:nvPr/>
        </p:nvSpPr>
        <p:spPr>
          <a:xfrm>
            <a:off x="3746090" y="2271252"/>
            <a:ext cx="2616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Jobs to Services Process</a:t>
            </a:r>
          </a:p>
        </p:txBody>
      </p:sp>
    </p:spTree>
    <p:extLst>
      <p:ext uri="{BB962C8B-B14F-4D97-AF65-F5344CB8AC3E}">
        <p14:creationId xmlns:p14="http://schemas.microsoft.com/office/powerpoint/2010/main" val="405747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>
          <a:extLst>
            <a:ext uri="{FF2B5EF4-FFF2-40B4-BE49-F238E27FC236}">
              <a16:creationId xmlns:a16="http://schemas.microsoft.com/office/drawing/2014/main" id="{78AFEEDF-2E57-7228-1600-E6026ECA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4">
            <a:extLst>
              <a:ext uri="{FF2B5EF4-FFF2-40B4-BE49-F238E27FC236}">
                <a16:creationId xmlns:a16="http://schemas.microsoft.com/office/drawing/2014/main" id="{361A876C-D4A4-A676-F64C-C88221753589}"/>
              </a:ext>
            </a:extLst>
          </p:cNvPr>
          <p:cNvCxnSpPr/>
          <p:nvPr/>
        </p:nvCxnSpPr>
        <p:spPr>
          <a:xfrm>
            <a:off x="685800" y="685800"/>
            <a:ext cx="10820400" cy="0"/>
          </a:xfrm>
          <a:prstGeom prst="straightConnector1">
            <a:avLst/>
          </a:prstGeom>
          <a:noFill/>
          <a:ln w="9525" cap="flat" cmpd="sng">
            <a:solidFill>
              <a:srgbClr val="526E79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73" name="Google Shape;173;p4">
            <a:extLst>
              <a:ext uri="{FF2B5EF4-FFF2-40B4-BE49-F238E27FC236}">
                <a16:creationId xmlns:a16="http://schemas.microsoft.com/office/drawing/2014/main" id="{77051142-60C6-4782-03D0-4E88A76DF127}"/>
              </a:ext>
            </a:extLst>
          </p:cNvPr>
          <p:cNvGrpSpPr/>
          <p:nvPr/>
        </p:nvGrpSpPr>
        <p:grpSpPr>
          <a:xfrm>
            <a:off x="10998454" y="375840"/>
            <a:ext cx="507749" cy="169203"/>
            <a:chOff x="0" y="-84403"/>
            <a:chExt cx="1015497" cy="338403"/>
          </a:xfrm>
        </p:grpSpPr>
        <p:grpSp>
          <p:nvGrpSpPr>
            <p:cNvPr id="174" name="Google Shape;174;p4">
              <a:extLst>
                <a:ext uri="{FF2B5EF4-FFF2-40B4-BE49-F238E27FC236}">
                  <a16:creationId xmlns:a16="http://schemas.microsoft.com/office/drawing/2014/main" id="{E7628E42-1C78-2DA4-9D58-019D14AA1D7A}"/>
                </a:ext>
              </a:extLst>
            </p:cNvPr>
            <p:cNvGrpSpPr/>
            <p:nvPr/>
          </p:nvGrpSpPr>
          <p:grpSpPr>
            <a:xfrm>
              <a:off x="0" y="-84403"/>
              <a:ext cx="254000" cy="338403"/>
              <a:chOff x="0" y="-111436"/>
              <a:chExt cx="335351" cy="446787"/>
            </a:xfrm>
          </p:grpSpPr>
          <p:sp>
            <p:nvSpPr>
              <p:cNvPr id="175" name="Google Shape;175;p4">
                <a:extLst>
                  <a:ext uri="{FF2B5EF4-FFF2-40B4-BE49-F238E27FC236}">
                    <a16:creationId xmlns:a16="http://schemas.microsoft.com/office/drawing/2014/main" id="{A1CF6267-377C-6486-95B1-1051FAB3413E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1" tIns="30468" rIns="60951" bIns="30468" anchor="t" anchorCtr="0">
                <a:noAutofit/>
              </a:bodyPr>
              <a:lstStyle/>
              <a:p>
                <a:pPr defTabSz="1219170"/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4">
                <a:extLst>
                  <a:ext uri="{FF2B5EF4-FFF2-40B4-BE49-F238E27FC236}">
                    <a16:creationId xmlns:a16="http://schemas.microsoft.com/office/drawing/2014/main" id="{221D944D-1005-D075-C469-FE090549850F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8" tIns="33868" rIns="33868" bIns="33868" anchor="ctr" anchorCtr="0">
                <a:noAutofit/>
              </a:bodyPr>
              <a:lstStyle/>
              <a:p>
                <a:pPr algn="ctr" defTabSz="1219170">
                  <a:lnSpc>
                    <a:spcPct val="200000"/>
                  </a:lnSpc>
                </a:pPr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7" name="Google Shape;177;p4">
              <a:extLst>
                <a:ext uri="{FF2B5EF4-FFF2-40B4-BE49-F238E27FC236}">
                  <a16:creationId xmlns:a16="http://schemas.microsoft.com/office/drawing/2014/main" id="{0D996E59-4631-EAA9-0993-09F134942C75}"/>
                </a:ext>
              </a:extLst>
            </p:cNvPr>
            <p:cNvGrpSpPr/>
            <p:nvPr/>
          </p:nvGrpSpPr>
          <p:grpSpPr>
            <a:xfrm>
              <a:off x="380497" y="-84403"/>
              <a:ext cx="254000" cy="338403"/>
              <a:chOff x="0" y="-111436"/>
              <a:chExt cx="335351" cy="446787"/>
            </a:xfrm>
          </p:grpSpPr>
          <p:sp>
            <p:nvSpPr>
              <p:cNvPr id="178" name="Google Shape;178;p4">
                <a:extLst>
                  <a:ext uri="{FF2B5EF4-FFF2-40B4-BE49-F238E27FC236}">
                    <a16:creationId xmlns:a16="http://schemas.microsoft.com/office/drawing/2014/main" id="{9579F2B4-6CC4-7BDC-0A9B-060551E03A42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1" tIns="30468" rIns="60951" bIns="30468" anchor="t" anchorCtr="0">
                <a:noAutofit/>
              </a:bodyPr>
              <a:lstStyle/>
              <a:p>
                <a:pPr defTabSz="1219170"/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4">
                <a:extLst>
                  <a:ext uri="{FF2B5EF4-FFF2-40B4-BE49-F238E27FC236}">
                    <a16:creationId xmlns:a16="http://schemas.microsoft.com/office/drawing/2014/main" id="{7C7093FB-DBC1-AD57-DAF2-0A4E8FE13CFE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8" tIns="33868" rIns="33868" bIns="33868" anchor="ctr" anchorCtr="0">
                <a:noAutofit/>
              </a:bodyPr>
              <a:lstStyle/>
              <a:p>
                <a:pPr algn="ctr" defTabSz="1219170">
                  <a:lnSpc>
                    <a:spcPct val="200000"/>
                  </a:lnSpc>
                </a:pPr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4">
              <a:extLst>
                <a:ext uri="{FF2B5EF4-FFF2-40B4-BE49-F238E27FC236}">
                  <a16:creationId xmlns:a16="http://schemas.microsoft.com/office/drawing/2014/main" id="{0C097CD8-71C4-5720-A4BC-81ED64EBE8DF}"/>
                </a:ext>
              </a:extLst>
            </p:cNvPr>
            <p:cNvGrpSpPr/>
            <p:nvPr/>
          </p:nvGrpSpPr>
          <p:grpSpPr>
            <a:xfrm>
              <a:off x="761497" y="-84403"/>
              <a:ext cx="254000" cy="338403"/>
              <a:chOff x="0" y="-111436"/>
              <a:chExt cx="335351" cy="446787"/>
            </a:xfrm>
          </p:grpSpPr>
          <p:sp>
            <p:nvSpPr>
              <p:cNvPr id="181" name="Google Shape;181;p4">
                <a:extLst>
                  <a:ext uri="{FF2B5EF4-FFF2-40B4-BE49-F238E27FC236}">
                    <a16:creationId xmlns:a16="http://schemas.microsoft.com/office/drawing/2014/main" id="{A292E4D7-5AC7-4544-E30D-F676F931EDEF}"/>
                  </a:ext>
                </a:extLst>
              </p:cNvPr>
              <p:cNvSpPr/>
              <p:nvPr/>
            </p:nvSpPr>
            <p:spPr>
              <a:xfrm>
                <a:off x="0" y="0"/>
                <a:ext cx="335351" cy="335351"/>
              </a:xfrm>
              <a:custGeom>
                <a:avLst/>
                <a:gdLst/>
                <a:ahLst/>
                <a:cxnLst/>
                <a:rect l="l" t="t" r="r" b="b"/>
                <a:pathLst>
                  <a:path w="335351" h="335351" extrusionOk="0">
                    <a:moveTo>
                      <a:pt x="167676" y="0"/>
                    </a:moveTo>
                    <a:cubicBezTo>
                      <a:pt x="75071" y="0"/>
                      <a:pt x="0" y="75071"/>
                      <a:pt x="0" y="167676"/>
                    </a:cubicBezTo>
                    <a:cubicBezTo>
                      <a:pt x="0" y="260280"/>
                      <a:pt x="75071" y="335351"/>
                      <a:pt x="167676" y="335351"/>
                    </a:cubicBezTo>
                    <a:cubicBezTo>
                      <a:pt x="260280" y="335351"/>
                      <a:pt x="335351" y="260280"/>
                      <a:pt x="335351" y="167676"/>
                    </a:cubicBezTo>
                    <a:cubicBezTo>
                      <a:pt x="335351" y="75071"/>
                      <a:pt x="260280" y="0"/>
                      <a:pt x="167676" y="0"/>
                    </a:cubicBezTo>
                    <a:close/>
                  </a:path>
                </a:pathLst>
              </a:custGeom>
              <a:solidFill>
                <a:srgbClr val="526E79"/>
              </a:solidFill>
              <a:ln>
                <a:noFill/>
              </a:ln>
            </p:spPr>
            <p:txBody>
              <a:bodyPr spcFirstLastPara="1" wrap="square" lIns="60951" tIns="30468" rIns="60951" bIns="30468" anchor="t" anchorCtr="0">
                <a:noAutofit/>
              </a:bodyPr>
              <a:lstStyle/>
              <a:p>
                <a:pPr defTabSz="1219170"/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4">
                <a:extLst>
                  <a:ext uri="{FF2B5EF4-FFF2-40B4-BE49-F238E27FC236}">
                    <a16:creationId xmlns:a16="http://schemas.microsoft.com/office/drawing/2014/main" id="{D552B3BD-5B09-B5AC-8B41-A5DB586DC62E}"/>
                  </a:ext>
                </a:extLst>
              </p:cNvPr>
              <p:cNvSpPr txBox="1"/>
              <p:nvPr/>
            </p:nvSpPr>
            <p:spPr>
              <a:xfrm>
                <a:off x="31439" y="-111436"/>
                <a:ext cx="272473" cy="4153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33868" tIns="33868" rIns="33868" bIns="33868" anchor="ctr" anchorCtr="0">
                <a:noAutofit/>
              </a:bodyPr>
              <a:lstStyle/>
              <a:p>
                <a:pPr algn="ctr" defTabSz="1219170">
                  <a:lnSpc>
                    <a:spcPct val="200000"/>
                  </a:lnSpc>
                </a:pPr>
                <a:endParaRPr sz="1200">
                  <a:solidFill>
                    <a:prstClr val="black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" name="Google Shape;187;p4">
            <a:extLst>
              <a:ext uri="{FF2B5EF4-FFF2-40B4-BE49-F238E27FC236}">
                <a16:creationId xmlns:a16="http://schemas.microsoft.com/office/drawing/2014/main" id="{26ABC38D-B8D6-E029-D355-38E0CB4EF257}"/>
              </a:ext>
            </a:extLst>
          </p:cNvPr>
          <p:cNvGrpSpPr/>
          <p:nvPr/>
        </p:nvGrpSpPr>
        <p:grpSpPr>
          <a:xfrm rot="-3960000">
            <a:off x="9378312" y="655311"/>
            <a:ext cx="11430000" cy="10160000"/>
            <a:chOff x="0" y="0"/>
            <a:chExt cx="4447135" cy="3953009"/>
          </a:xfrm>
        </p:grpSpPr>
        <p:sp>
          <p:nvSpPr>
            <p:cNvPr id="188" name="Google Shape;188;p4">
              <a:extLst>
                <a:ext uri="{FF2B5EF4-FFF2-40B4-BE49-F238E27FC236}">
                  <a16:creationId xmlns:a16="http://schemas.microsoft.com/office/drawing/2014/main" id="{C7D1AED7-BC7F-FFDA-B80C-C3EDC4A105FB}"/>
                </a:ext>
              </a:extLst>
            </p:cNvPr>
            <p:cNvSpPr/>
            <p:nvPr/>
          </p:nvSpPr>
          <p:spPr>
            <a:xfrm>
              <a:off x="0" y="0"/>
              <a:ext cx="4447135" cy="3953009"/>
            </a:xfrm>
            <a:custGeom>
              <a:avLst/>
              <a:gdLst/>
              <a:ahLst/>
              <a:cxnLst/>
              <a:rect l="l" t="t" r="r" b="b"/>
              <a:pathLst>
                <a:path w="4447135" h="3953009" extrusionOk="0">
                  <a:moveTo>
                    <a:pt x="0" y="0"/>
                  </a:moveTo>
                  <a:lnTo>
                    <a:pt x="4447135" y="0"/>
                  </a:lnTo>
                  <a:lnTo>
                    <a:pt x="4447135" y="3953009"/>
                  </a:lnTo>
                  <a:lnTo>
                    <a:pt x="0" y="3953009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526E7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0951" tIns="30468" rIns="60951" bIns="30468" anchor="t" anchorCtr="0">
              <a:noAutofit/>
            </a:bodyPr>
            <a:lstStyle/>
            <a:p>
              <a:pPr defTabSz="1219170"/>
              <a:endParaRPr sz="120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4">
              <a:extLst>
                <a:ext uri="{FF2B5EF4-FFF2-40B4-BE49-F238E27FC236}">
                  <a16:creationId xmlns:a16="http://schemas.microsoft.com/office/drawing/2014/main" id="{B6EBA935-4E57-0F41-EC57-571622313155}"/>
                </a:ext>
              </a:extLst>
            </p:cNvPr>
            <p:cNvSpPr txBox="1"/>
            <p:nvPr/>
          </p:nvSpPr>
          <p:spPr>
            <a:xfrm>
              <a:off x="0" y="19050"/>
              <a:ext cx="4447135" cy="3933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8" tIns="33868" rIns="33868" bIns="33868" anchor="ctr" anchorCtr="0">
              <a:noAutofit/>
            </a:bodyPr>
            <a:lstStyle/>
            <a:p>
              <a:pPr algn="ctr" defTabSz="1219170">
                <a:lnSpc>
                  <a:spcPct val="77055"/>
                </a:lnSpc>
              </a:pPr>
              <a:endParaRPr sz="1200">
                <a:solidFill>
                  <a:prstClr val="black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4">
            <a:extLst>
              <a:ext uri="{FF2B5EF4-FFF2-40B4-BE49-F238E27FC236}">
                <a16:creationId xmlns:a16="http://schemas.microsoft.com/office/drawing/2014/main" id="{75E52AA0-1137-4255-A7F8-1EE022B32AE2}"/>
              </a:ext>
            </a:extLst>
          </p:cNvPr>
          <p:cNvSpPr/>
          <p:nvPr/>
        </p:nvSpPr>
        <p:spPr>
          <a:xfrm rot="2790752">
            <a:off x="11386716" y="1035635"/>
            <a:ext cx="1610568" cy="1524000"/>
          </a:xfrm>
          <a:custGeom>
            <a:avLst/>
            <a:gdLst/>
            <a:ahLst/>
            <a:cxnLst/>
            <a:rect l="l" t="t" r="r" b="b"/>
            <a:pathLst>
              <a:path w="2415852" h="2286000" extrusionOk="0">
                <a:moveTo>
                  <a:pt x="0" y="0"/>
                </a:moveTo>
                <a:lnTo>
                  <a:pt x="2415852" y="0"/>
                </a:lnTo>
                <a:lnTo>
                  <a:pt x="2415852" y="2286000"/>
                </a:lnTo>
                <a:lnTo>
                  <a:pt x="0" y="228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1" tIns="30468" rIns="60951" bIns="30468" anchor="t" anchorCtr="0">
            <a:noAutofit/>
          </a:bodyPr>
          <a:lstStyle/>
          <a:p>
            <a:pPr defTabSz="1219170"/>
            <a:endParaRPr sz="1200" dirty="0">
              <a:solidFill>
                <a:prstClr val="black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>
            <a:extLst>
              <a:ext uri="{FF2B5EF4-FFF2-40B4-BE49-F238E27FC236}">
                <a16:creationId xmlns:a16="http://schemas.microsoft.com/office/drawing/2014/main" id="{A4C92E86-14BE-7D9F-778D-1CCA44F9E031}"/>
              </a:ext>
            </a:extLst>
          </p:cNvPr>
          <p:cNvSpPr txBox="1"/>
          <p:nvPr/>
        </p:nvSpPr>
        <p:spPr>
          <a:xfrm>
            <a:off x="685802" y="336552"/>
            <a:ext cx="1656260" cy="28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1219170">
              <a:lnSpc>
                <a:spcPct val="140000"/>
              </a:lnSpc>
            </a:pPr>
            <a:r>
              <a:rPr lang="en-US" sz="1333">
                <a:solidFill>
                  <a:srgbClr val="526E7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HumanCentric Labs</a:t>
            </a:r>
            <a:endParaRPr sz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33D378-C69B-BD61-4847-90BADF7CFA27}"/>
              </a:ext>
            </a:extLst>
          </p:cNvPr>
          <p:cNvSpPr/>
          <p:nvPr/>
        </p:nvSpPr>
        <p:spPr>
          <a:xfrm>
            <a:off x="698092" y="1672575"/>
            <a:ext cx="10937160" cy="4607336"/>
          </a:xfrm>
          <a:prstGeom prst="rect">
            <a:avLst/>
          </a:prstGeom>
          <a:solidFill>
            <a:srgbClr val="7699A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>
              <a:defRPr/>
            </a:pPr>
            <a:endParaRPr lang="en-US" sz="1400" dirty="0">
              <a:solidFill>
                <a:srgbClr val="212121"/>
              </a:solidFill>
              <a:latin typeface="Arial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25804C5-47BF-A23C-A444-AAA33AE5FC3B}"/>
              </a:ext>
            </a:extLst>
          </p:cNvPr>
          <p:cNvGrpSpPr/>
          <p:nvPr/>
        </p:nvGrpSpPr>
        <p:grpSpPr>
          <a:xfrm>
            <a:off x="7059470" y="4385164"/>
            <a:ext cx="1871869" cy="1182769"/>
            <a:chOff x="10589202" y="6577743"/>
            <a:chExt cx="2807803" cy="1774153"/>
          </a:xfrm>
        </p:grpSpPr>
        <p:sp>
          <p:nvSpPr>
            <p:cNvPr id="20" name="Google Shape;719;p77">
              <a:extLst>
                <a:ext uri="{FF2B5EF4-FFF2-40B4-BE49-F238E27FC236}">
                  <a16:creationId xmlns:a16="http://schemas.microsoft.com/office/drawing/2014/main" id="{092C8D3D-A9DC-2B21-591F-D04A71EC8CAB}"/>
                </a:ext>
              </a:extLst>
            </p:cNvPr>
            <p:cNvSpPr/>
            <p:nvPr/>
          </p:nvSpPr>
          <p:spPr>
            <a:xfrm>
              <a:off x="11206868" y="6607417"/>
              <a:ext cx="1690709" cy="632894"/>
            </a:xfrm>
            <a:prstGeom prst="roundRect">
              <a:avLst>
                <a:gd name="adj" fmla="val 50000"/>
              </a:avLst>
            </a:prstGeom>
            <a:solidFill>
              <a:srgbClr val="EF86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914377">
                <a:buSzPts val="1900"/>
                <a:defRPr/>
              </a:pPr>
              <a:endParaRPr sz="1900">
                <a:solidFill>
                  <a:srgbClr val="FFFFFF"/>
                </a:solidFill>
                <a:latin typeface="Calibri" panose="020F0502020204030204"/>
              </a:endParaRPr>
            </a:p>
          </p:txBody>
        </p:sp>
        <p:pic>
          <p:nvPicPr>
            <p:cNvPr id="21" name="Google Shape;720;p77">
              <a:extLst>
                <a:ext uri="{FF2B5EF4-FFF2-40B4-BE49-F238E27FC236}">
                  <a16:creationId xmlns:a16="http://schemas.microsoft.com/office/drawing/2014/main" id="{6B0DA24B-FEB5-6A27-0DB5-C05FAD2AB88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1595682" y="6577743"/>
              <a:ext cx="818888" cy="7622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C056ED3-CC48-E7F3-20C2-9279B50B3469}"/>
                </a:ext>
              </a:extLst>
            </p:cNvPr>
            <p:cNvSpPr txBox="1"/>
            <p:nvPr/>
          </p:nvSpPr>
          <p:spPr>
            <a:xfrm>
              <a:off x="11295359" y="7382399"/>
              <a:ext cx="2101646" cy="969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Human Feedback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F3E8C14-C4EA-265F-2052-A5D265E68A71}"/>
                </a:ext>
              </a:extLst>
            </p:cNvPr>
            <p:cNvCxnSpPr/>
            <p:nvPr/>
          </p:nvCxnSpPr>
          <p:spPr>
            <a:xfrm>
              <a:off x="10589202" y="6943448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36A7B6-F92F-86C2-E0C9-E8ECCBE5F5D8}"/>
              </a:ext>
            </a:extLst>
          </p:cNvPr>
          <p:cNvGrpSpPr/>
          <p:nvPr/>
        </p:nvGrpSpPr>
        <p:grpSpPr>
          <a:xfrm>
            <a:off x="7052839" y="2622893"/>
            <a:ext cx="4582412" cy="1701322"/>
            <a:chOff x="10579258" y="3934337"/>
            <a:chExt cx="6873617" cy="2551982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8CBC3AA-88C2-CCB2-FDBC-361624A83CEE}"/>
                </a:ext>
              </a:extLst>
            </p:cNvPr>
            <p:cNvSpPr/>
            <p:nvPr/>
          </p:nvSpPr>
          <p:spPr>
            <a:xfrm>
              <a:off x="10579258" y="4080476"/>
              <a:ext cx="2945927" cy="1371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sz="14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93107A3-CCC2-B508-2EB8-004B683C2602}"/>
                </a:ext>
              </a:extLst>
            </p:cNvPr>
            <p:cNvSpPr txBox="1"/>
            <p:nvPr/>
          </p:nvSpPr>
          <p:spPr>
            <a:xfrm>
              <a:off x="10814098" y="4428585"/>
              <a:ext cx="2857438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Service Model Transformation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2D6C1AD-C419-575C-685F-C8426A592603}"/>
                </a:ext>
              </a:extLst>
            </p:cNvPr>
            <p:cNvSpPr txBox="1"/>
            <p:nvPr/>
          </p:nvSpPr>
          <p:spPr>
            <a:xfrm>
              <a:off x="13942822" y="3934337"/>
              <a:ext cx="3510053" cy="249298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buClr>
                  <a:srgbClr val="FFFFFF"/>
                </a:buClr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Services Distribution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Role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Services 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%FTE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Responsibilities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Customer</a:t>
              </a:r>
            </a:p>
            <a:p>
              <a:pPr marL="285744" indent="-285744" defTabSz="914377">
                <a:buClr>
                  <a:srgbClr val="FFFFFF"/>
                </a:buClr>
                <a:buFont typeface="Arial" panose="020B0604020202020204" pitchFamily="34" charset="0"/>
                <a:buChar char="•"/>
                <a:defRPr/>
              </a:pPr>
              <a:r>
                <a:rPr lang="en-US" sz="1400" dirty="0">
                  <a:solidFill>
                    <a:srgbClr val="FFFFFF"/>
                  </a:solidFill>
                  <a:latin typeface="Calibri" panose="020F0502020204030204"/>
                </a:rPr>
                <a:t>Capabilities 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8D86FB1-F182-66F1-EA94-2C129431C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970075" y="5532281"/>
              <a:ext cx="0" cy="95403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7FBE7BF-4A10-E8C5-6308-95B9E474E5C0}"/>
                </a:ext>
              </a:extLst>
            </p:cNvPr>
            <p:cNvCxnSpPr>
              <a:cxnSpLocks/>
            </p:cNvCxnSpPr>
            <p:nvPr/>
          </p:nvCxnSpPr>
          <p:spPr>
            <a:xfrm>
              <a:off x="13525184" y="4783719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5CAFC6B-096E-39FC-46E2-6F1979C38118}"/>
              </a:ext>
            </a:extLst>
          </p:cNvPr>
          <p:cNvGrpSpPr/>
          <p:nvPr/>
        </p:nvGrpSpPr>
        <p:grpSpPr>
          <a:xfrm>
            <a:off x="2860325" y="2788825"/>
            <a:ext cx="4083600" cy="1496060"/>
            <a:chOff x="4290488" y="4183236"/>
            <a:chExt cx="6125399" cy="2244090"/>
          </a:xfrm>
        </p:grpSpPr>
        <p:pic>
          <p:nvPicPr>
            <p:cNvPr id="23" name="Picture 2" descr="Ai Icon #299146 - Free Icons Library">
              <a:extLst>
                <a:ext uri="{FF2B5EF4-FFF2-40B4-BE49-F238E27FC236}">
                  <a16:creationId xmlns:a16="http://schemas.microsoft.com/office/drawing/2014/main" id="{629AD16A-C901-69A0-C57B-2D6D81472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020" y="4420969"/>
              <a:ext cx="724176" cy="7080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559979-90E0-50CE-1AD3-3F81EE6BB113}"/>
                </a:ext>
              </a:extLst>
            </p:cNvPr>
            <p:cNvSpPr txBox="1"/>
            <p:nvPr/>
          </p:nvSpPr>
          <p:spPr>
            <a:xfrm>
              <a:off x="7010522" y="4183236"/>
              <a:ext cx="2101647" cy="9694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Workforce Agent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51C3B13-A3D6-E026-D306-85DF9CE982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58750" y="4783719"/>
              <a:ext cx="125713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DBADC40-910E-DC25-E264-A324256C84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98259" y="4783719"/>
              <a:ext cx="191697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99B0A00-B014-474B-E9AF-A51724E52077}"/>
                </a:ext>
              </a:extLst>
            </p:cNvPr>
            <p:cNvCxnSpPr>
              <a:cxnSpLocks/>
            </p:cNvCxnSpPr>
            <p:nvPr/>
          </p:nvCxnSpPr>
          <p:spPr>
            <a:xfrm>
              <a:off x="4290488" y="4783719"/>
              <a:ext cx="0" cy="16436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60FFA2B-8823-D275-4589-63006D584A6F}"/>
              </a:ext>
            </a:extLst>
          </p:cNvPr>
          <p:cNvGrpSpPr/>
          <p:nvPr/>
        </p:nvGrpSpPr>
        <p:grpSpPr>
          <a:xfrm>
            <a:off x="1059322" y="4186795"/>
            <a:ext cx="5943596" cy="932260"/>
            <a:chOff x="1588982" y="6280192"/>
            <a:chExt cx="8915394" cy="13983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69D431-69E5-C095-10F6-8F59356762DE}"/>
                </a:ext>
              </a:extLst>
            </p:cNvPr>
            <p:cNvSpPr/>
            <p:nvPr/>
          </p:nvSpPr>
          <p:spPr>
            <a:xfrm>
              <a:off x="5593170" y="6293586"/>
              <a:ext cx="1371600" cy="1371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sz="14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4BCE8D8-A94F-22E4-D80F-4CE3D6471206}"/>
                </a:ext>
              </a:extLst>
            </p:cNvPr>
            <p:cNvSpPr txBox="1"/>
            <p:nvPr/>
          </p:nvSpPr>
          <p:spPr>
            <a:xfrm>
              <a:off x="5725906" y="6280192"/>
              <a:ext cx="1106130" cy="13849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Job Role Data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31CDC23-E7C5-EC88-816A-41103F45E778}"/>
                </a:ext>
              </a:extLst>
            </p:cNvPr>
            <p:cNvSpPr/>
            <p:nvPr/>
          </p:nvSpPr>
          <p:spPr>
            <a:xfrm>
              <a:off x="8830434" y="6287145"/>
              <a:ext cx="1585452" cy="1371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sz="14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748A3CB-2156-B8D2-5314-A41F4045F06E}"/>
                </a:ext>
              </a:extLst>
            </p:cNvPr>
            <p:cNvSpPr txBox="1"/>
            <p:nvPr/>
          </p:nvSpPr>
          <p:spPr>
            <a:xfrm>
              <a:off x="8918924" y="6488195"/>
              <a:ext cx="1585452" cy="9694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Service Catalog</a:t>
              </a:r>
            </a:p>
          </p:txBody>
        </p:sp>
        <p:pic>
          <p:nvPicPr>
            <p:cNvPr id="16" name="Picture 2" descr="Ai Icon #299146 - Free Icons Library">
              <a:extLst>
                <a:ext uri="{FF2B5EF4-FFF2-40B4-BE49-F238E27FC236}">
                  <a16:creationId xmlns:a16="http://schemas.microsoft.com/office/drawing/2014/main" id="{7F0554B5-8BB9-B9A9-D752-BF271B4F29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8727" y="6488197"/>
              <a:ext cx="743850" cy="7272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Flowchart: Magnetic Disk 16">
              <a:extLst>
                <a:ext uri="{FF2B5EF4-FFF2-40B4-BE49-F238E27FC236}">
                  <a16:creationId xmlns:a16="http://schemas.microsoft.com/office/drawing/2014/main" id="{C4EC924E-B826-307D-3460-BA0B2AAB3388}"/>
                </a:ext>
              </a:extLst>
            </p:cNvPr>
            <p:cNvSpPr/>
            <p:nvPr/>
          </p:nvSpPr>
          <p:spPr>
            <a:xfrm>
              <a:off x="3591078" y="6582167"/>
              <a:ext cx="1371600" cy="918972"/>
            </a:xfrm>
            <a:prstGeom prst="flowChartMagneticDisk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sz="1400">
                <a:solidFill>
                  <a:srgbClr val="212121"/>
                </a:solidFill>
                <a:latin typeface="Arial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D360712-B3D6-1303-13E6-39726C8471CF}"/>
                </a:ext>
              </a:extLst>
            </p:cNvPr>
            <p:cNvSpPr/>
            <p:nvPr/>
          </p:nvSpPr>
          <p:spPr>
            <a:xfrm>
              <a:off x="1588982" y="6306981"/>
              <a:ext cx="1371600" cy="1371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7">
                <a:defRPr/>
              </a:pPr>
              <a:endParaRPr lang="en-US" sz="1400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F6E0ACE-9643-9C0C-EB44-3C3552A433C9}"/>
                </a:ext>
              </a:extLst>
            </p:cNvPr>
            <p:cNvSpPr txBox="1"/>
            <p:nvPr/>
          </p:nvSpPr>
          <p:spPr>
            <a:xfrm>
              <a:off x="1736468" y="6666451"/>
              <a:ext cx="1106130" cy="553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HRIS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138103-A655-3707-E0DF-CD51F4BD8EA7}"/>
                </a:ext>
              </a:extLst>
            </p:cNvPr>
            <p:cNvCxnSpPr/>
            <p:nvPr/>
          </p:nvCxnSpPr>
          <p:spPr>
            <a:xfrm>
              <a:off x="3067548" y="7159637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01D06BC2-A95C-B67D-ED8B-B1AE56A0D560}"/>
                </a:ext>
              </a:extLst>
            </p:cNvPr>
            <p:cNvCxnSpPr/>
            <p:nvPr/>
          </p:nvCxnSpPr>
          <p:spPr>
            <a:xfrm>
              <a:off x="5143380" y="7036611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670930BF-1FC0-A7C3-461C-B22E157BBA4C}"/>
                </a:ext>
              </a:extLst>
            </p:cNvPr>
            <p:cNvCxnSpPr/>
            <p:nvPr/>
          </p:nvCxnSpPr>
          <p:spPr>
            <a:xfrm>
              <a:off x="6964770" y="6978765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8FC822-D53B-C926-2B4C-BC9A5977BD36}"/>
                </a:ext>
              </a:extLst>
            </p:cNvPr>
            <p:cNvSpPr txBox="1"/>
            <p:nvPr/>
          </p:nvSpPr>
          <p:spPr>
            <a:xfrm>
              <a:off x="7053260" y="7099421"/>
              <a:ext cx="1583744" cy="5539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defTabSz="914377">
                <a:defRPr/>
              </a:pPr>
              <a:r>
                <a:rPr lang="en-US" dirty="0">
                  <a:solidFill>
                    <a:srgbClr val="FFFFFF"/>
                  </a:solidFill>
                  <a:latin typeface="Calibri" panose="020F0502020204030204"/>
                </a:rPr>
                <a:t>Process</a:t>
              </a: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98C2038F-EECC-24FB-8129-2F5FD2DCA2A8}"/>
                </a:ext>
              </a:extLst>
            </p:cNvPr>
            <p:cNvCxnSpPr/>
            <p:nvPr/>
          </p:nvCxnSpPr>
          <p:spPr>
            <a:xfrm>
              <a:off x="8187213" y="6943448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1577488-0385-AABD-0BAD-A2568575D7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7548" y="6943448"/>
              <a:ext cx="44979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Google Shape;214;p6">
            <a:extLst>
              <a:ext uri="{FF2B5EF4-FFF2-40B4-BE49-F238E27FC236}">
                <a16:creationId xmlns:a16="http://schemas.microsoft.com/office/drawing/2014/main" id="{B17E3C26-F74D-26E4-2E41-4D73FCDB5FBD}"/>
              </a:ext>
            </a:extLst>
          </p:cNvPr>
          <p:cNvSpPr txBox="1"/>
          <p:nvPr/>
        </p:nvSpPr>
        <p:spPr>
          <a:xfrm>
            <a:off x="787400" y="898679"/>
            <a:ext cx="9191979" cy="49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1219170">
              <a:lnSpc>
                <a:spcPct val="120000"/>
              </a:lnSpc>
            </a:pPr>
            <a:r>
              <a:rPr lang="en-US" sz="2668" b="1" dirty="0">
                <a:solidFill>
                  <a:srgbClr val="435E67"/>
                </a:solidFill>
                <a:latin typeface="Calibri" panose="020F0502020204030204"/>
              </a:rPr>
              <a:t>Job to Service Process and Feedback Loop    </a:t>
            </a:r>
            <a:endParaRPr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187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54E42F-8130-4525-141F-FDBD2FDB46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65" t="6881" r="22661" b="10824"/>
          <a:stretch/>
        </p:blipFill>
        <p:spPr>
          <a:xfrm>
            <a:off x="1612491" y="751925"/>
            <a:ext cx="7020232" cy="59875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05C067-E1B6-C980-AB45-9BF076F73BE4}"/>
              </a:ext>
            </a:extLst>
          </p:cNvPr>
          <p:cNvSpPr txBox="1"/>
          <p:nvPr/>
        </p:nvSpPr>
        <p:spPr>
          <a:xfrm>
            <a:off x="3372466" y="167150"/>
            <a:ext cx="5049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9170"/>
            <a:r>
              <a:rPr lang="en-US" sz="3200" dirty="0">
                <a:solidFill>
                  <a:prstClr val="black"/>
                </a:solidFill>
                <a:latin typeface="Calibri" panose="020F0502020204030204"/>
              </a:rPr>
              <a:t>Jobs to Services Architecture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7CC99F-E8DD-BCAF-EDE2-0304C0A14583}"/>
              </a:ext>
            </a:extLst>
          </p:cNvPr>
          <p:cNvSpPr txBox="1"/>
          <p:nvPr/>
        </p:nvSpPr>
        <p:spPr>
          <a:xfrm>
            <a:off x="2890684" y="4375357"/>
            <a:ext cx="22319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Aligns to Any LLM</a:t>
            </a:r>
          </a:p>
          <a:p>
            <a:pPr defTabSz="1219170"/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AI agents manage service changes, service value, talent pool, resource supply-demand</a:t>
            </a:r>
          </a:p>
        </p:txBody>
      </p:sp>
      <p:pic>
        <p:nvPicPr>
          <p:cNvPr id="4" name="Picture 3" descr="Ai Icon #299146 - Free Icons Library">
            <a:extLst>
              <a:ext uri="{FF2B5EF4-FFF2-40B4-BE49-F238E27FC236}">
                <a16:creationId xmlns:a16="http://schemas.microsoft.com/office/drawing/2014/main" id="{1F8D7FD0-DFE4-E942-BB8A-E036A4751E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641" y="5671260"/>
            <a:ext cx="1042808" cy="101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97FCE-BFEE-7DCA-2E20-8E7D8C357489}"/>
              </a:ext>
            </a:extLst>
          </p:cNvPr>
          <p:cNvSpPr txBox="1"/>
          <p:nvPr/>
        </p:nvSpPr>
        <p:spPr>
          <a:xfrm>
            <a:off x="9176330" y="1883732"/>
            <a:ext cx="280636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Job Data Input</a:t>
            </a:r>
          </a:p>
          <a:p>
            <a:pPr defTabSz="121917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LLM Process</a:t>
            </a:r>
          </a:p>
          <a:p>
            <a:pPr defTabSz="121917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Normalize Output</a:t>
            </a:r>
          </a:p>
          <a:p>
            <a:pPr defTabSz="1219170"/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Human Feedback</a:t>
            </a:r>
          </a:p>
          <a:p>
            <a:pPr marL="342891" indent="-342891" defTabSz="1219170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Services</a:t>
            </a:r>
          </a:p>
          <a:p>
            <a:pPr marL="342891" indent="-342891" defTabSz="1219170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Customers</a:t>
            </a:r>
          </a:p>
          <a:p>
            <a:pPr marL="342891" indent="-342891" defTabSz="1219170">
              <a:buClr>
                <a:prstClr val="black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% FTE, etc.  </a:t>
            </a:r>
          </a:p>
        </p:txBody>
      </p:sp>
    </p:spTree>
    <p:extLst>
      <p:ext uri="{BB962C8B-B14F-4D97-AF65-F5344CB8AC3E}">
        <p14:creationId xmlns:p14="http://schemas.microsoft.com/office/powerpoint/2010/main" val="118688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10363200" cy="1341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SMMS AI Agent Strategy</a:t>
            </a:r>
            <a:endParaRPr lang="en-US" sz="5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987040"/>
            <a:ext cx="103632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Management Model System — Talent+AI Agent Design,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 Application &amp; Prototype</a:t>
            </a:r>
            <a:endParaRPr lang="en-US" sz="2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5486400"/>
            <a:ext cx="10363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b="1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HumanCentric Labs</a:t>
            </a:r>
            <a:r>
              <a:rPr lang="en-US" sz="1733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April 16, 2026  |  CONFIDENTIAL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SMMS Agent Architecture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network: individual Talent+AI node · organizational network · ecosystem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41120"/>
            <a:ext cx="11460480" cy="5242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7680" y="134112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13411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1280160" y="134112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Strategic Approaches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168249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options — lightweight, federated, fine-tuned — with pros, cons &amp; recommendation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98704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298704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80160" y="29870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SMMS Agent Architecture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332841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topology: nodes, layers, protocol, app connectors, ecosystem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680" y="463296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7680" y="46329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80160" y="463296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Agent at Login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80160" y="497433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Claude API prototype — service portfolio, VE status, communication drafting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39840" y="134112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39840" y="13411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0" y="134112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 (VE) Application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0" y="168249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Supplier-customer agent negotiation — full lifecycle design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339840" y="298704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39840" y="298704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0" y="298704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Lifecycle Flow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332841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Six-phase process — connect, detect, negotiate, define, deliver, accept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39840" y="4632960"/>
            <a:ext cx="670560" cy="6705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39840" y="46329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0" y="4632960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Next Steps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0" y="4974336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model, technical decisions, clarifying questions, Cowork path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Agent Strategic Approaches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800" y="1036320"/>
            <a:ext cx="3657600" cy="554736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36320"/>
            <a:ext cx="3657600" cy="85344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304800" y="1036320"/>
            <a:ext cx="731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0704" y="1036320"/>
            <a:ext cx="286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Lightweight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0704" y="14386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 bundled into SMMS login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6720" y="201168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6720" y="237744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Near-zero per-user cost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6720" y="280416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Full HCL IP control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720" y="32308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Fast deployment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6720" y="390144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720" y="426720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Limited capability ceiling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6720" y="469392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Model maintenance burden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206240" y="1036320"/>
            <a:ext cx="3657600" cy="5547360"/>
          </a:xfrm>
          <a:prstGeom prst="rect">
            <a:avLst/>
          </a:prstGeom>
          <a:solidFill>
            <a:srgbClr val="EEEDFE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06240" y="1036320"/>
            <a:ext cx="3657600" cy="8534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06240" y="1036320"/>
            <a:ext cx="731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962144" y="1036320"/>
            <a:ext cx="286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Multi-LLM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962144" y="14386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Router: local for simple, licensed for complex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28160" y="201168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28160" y="237744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Best-in-class capability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28160" y="280416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Cost-controlled routing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328160" y="32308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Upgradable components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328160" y="390144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328160" y="426720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Vendor LLM dependency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328160" y="469392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API costs scale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07680" y="1036320"/>
            <a:ext cx="3657600" cy="5547360"/>
          </a:xfrm>
          <a:prstGeom prst="rect">
            <a:avLst/>
          </a:prstGeom>
          <a:solidFill>
            <a:srgbClr val="FAECE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107680" y="1036320"/>
            <a:ext cx="3657600" cy="85344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07680" y="1036320"/>
            <a:ext cx="731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9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9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863584" y="1036320"/>
            <a:ext cx="28651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 Fine-Tuned Agent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863584" y="14386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model trained on SMMS domain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0" y="201168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0" y="237744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Deepest competitive moat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0" y="280416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Strongest IP position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0" y="32308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Native SMMS fluency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29600" y="3901440"/>
            <a:ext cx="1584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229600" y="426720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− 6–18 month runway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600" y="469392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Highest upfront cost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04800" y="6400800"/>
            <a:ext cx="11582400" cy="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04800" y="6217920"/>
            <a:ext cx="115824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Start with A. Build SMMS protocol for B/C compatibility. Design agent interface as model-agnostic from day one.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Agent — SMMS Login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097280"/>
            <a:ext cx="5852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Working Prototype</a:t>
            </a:r>
            <a:endParaRPr lang="en-US" sz="20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164592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(claude-sonnet-4-20250514)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219456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portfolio awareness at login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274320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VE negotiation pre-loaded in context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329184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drafting capability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384048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Quick-action interface: My Services, VE Status, Draft Comms, Top Customers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438912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conversation with history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7680" y="4937760"/>
            <a:ext cx="58521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5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5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— LLM swap without UX change</a:t>
            </a:r>
            <a:endParaRPr lang="en-US" sz="1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705600" y="1036320"/>
            <a:ext cx="4998720" cy="554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705600" y="1036320"/>
            <a:ext cx="4998720" cy="792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27520" y="1036320"/>
            <a:ext cx="47548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Talent+AI Agent  ●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05600" y="1828800"/>
            <a:ext cx="4998720" cy="2194560"/>
          </a:xfrm>
          <a:prstGeom prst="rect">
            <a:avLst/>
          </a:prstGeom>
          <a:solidFill>
            <a:srgbClr val="F0F4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1904" y="1950720"/>
            <a:ext cx="451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back. I'm your Talent+AI agent. I can help you manage your service portfolio, communicate with your team and customers, and track value exchange negotiations.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88480" y="4120896"/>
            <a:ext cx="2255520" cy="365760"/>
          </a:xfrm>
          <a:prstGeom prst="roundRect">
            <a:avLst>
              <a:gd name="adj" fmla="val 16667"/>
            </a:avLst>
          </a:prstGeom>
          <a:solidFill>
            <a:srgbClr val="F7F8FC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88480" y="4120896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services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326880" y="4120896"/>
            <a:ext cx="2255520" cy="365760"/>
          </a:xfrm>
          <a:prstGeom prst="roundRect">
            <a:avLst>
              <a:gd name="adj" fmla="val 16667"/>
            </a:avLst>
          </a:prstGeom>
          <a:solidFill>
            <a:srgbClr val="F7F8FC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326880" y="4120896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status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88480" y="4608576"/>
            <a:ext cx="2255520" cy="365760"/>
          </a:xfrm>
          <a:prstGeom prst="roundRect">
            <a:avLst>
              <a:gd name="adj" fmla="val 16667"/>
            </a:avLst>
          </a:prstGeom>
          <a:solidFill>
            <a:srgbClr val="F7F8FC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88480" y="4608576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comms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326880" y="4608576"/>
            <a:ext cx="2255520" cy="365760"/>
          </a:xfrm>
          <a:prstGeom prst="roundRect">
            <a:avLst>
              <a:gd name="adj" fmla="val 16667"/>
            </a:avLst>
          </a:prstGeom>
          <a:solidFill>
            <a:srgbClr val="F7F8FC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326880" y="4608576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267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customers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05600" y="5120640"/>
            <a:ext cx="4998720" cy="463296"/>
          </a:xfrm>
          <a:prstGeom prst="rect">
            <a:avLst/>
          </a:prstGeom>
          <a:solidFill>
            <a:srgbClr val="EAEEF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851904" y="5120640"/>
            <a:ext cx="36576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agent...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728960" y="5145024"/>
            <a:ext cx="85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267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↗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705600" y="5583936"/>
            <a:ext cx="4998720" cy="9997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27520" y="5632704"/>
            <a:ext cx="47548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Claude API · System prompt encodes full SMMS context at login · Model-agnostic interface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 (VE) Application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877824"/>
            <a:ext cx="1121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negotiation of supplier-customer service agreements at scale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87680" y="1341120"/>
            <a:ext cx="853440" cy="792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341120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24000" y="1365504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24000" y="1755648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 between Talent+AI supplier and customer(s), expressed as %FTE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7680" y="2401824"/>
            <a:ext cx="853440" cy="79248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7680" y="2401824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24000" y="2426208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Exchange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24000" y="2816352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agreement between supplier &amp; customer agents with full service attribute set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7680" y="3462528"/>
            <a:ext cx="853440" cy="79248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7680" y="3462528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24000" y="3486912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24000" y="3877056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graph: Customer 1 is simultaneously Supplier 1 to their own downstream customers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7680" y="4523232"/>
            <a:ext cx="853440" cy="7924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7680" y="4523232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24000" y="4547616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Negotiation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524000" y="4937760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agent process to resolve gaps, propose solutions, agree to changes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7680" y="5583936"/>
            <a:ext cx="853440" cy="7924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7680" y="5583936"/>
            <a:ext cx="8534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24000" y="5608320"/>
            <a:ext cx="243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 Agent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24000" y="5998464"/>
            <a:ext cx="999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agent: applies SMMS rules, monitors VE frequency, escalates to human Talent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21920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Lifecycle — Six-Phase Process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755904"/>
            <a:ext cx="11216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service connection through change request · negotiation · delivery · acceptance · scheduled review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133856"/>
            <a:ext cx="7802880" cy="5547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VE Design Options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04800" y="1072896"/>
            <a:ext cx="3657600" cy="5547360"/>
          </a:xfrm>
          <a:prstGeom prst="rect">
            <a:avLst/>
          </a:prstGeom>
          <a:solidFill>
            <a:srgbClr val="E1F5EE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04800" y="1072896"/>
            <a:ext cx="3657600" cy="87782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26720" y="1097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26720" y="141427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State Machine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26720" y="1780032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 to build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26720" y="221894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Finite state machine per service-customer pair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426720" y="288950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→ Change Req → Negotiating → Defining → Delivering → Acceptance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6720" y="356006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Rules determine auto-resolve vs. escalate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6720" y="423062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to IP Priority 4 claim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6720" y="490118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for: initial implementation &amp; testing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06240" y="1072896"/>
            <a:ext cx="3657600" cy="5547360"/>
          </a:xfrm>
          <a:prstGeom prst="rect">
            <a:avLst/>
          </a:prstGeom>
          <a:solidFill>
            <a:srgbClr val="EEEDFE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206240" y="1072896"/>
            <a:ext cx="3657600" cy="877824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28160" y="1097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28160" y="141427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Multi-Agent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328160" y="1780032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for production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328160" y="221894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Independent VE process per supplier-customer pair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328160" y="288950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Shared message bus for agent communication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328160" y="356006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Management agent monitors all VEs with rule engine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28160" y="423062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Maps to IP Priority 2 + 4 simultaneously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328160" y="490118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for: full value chain awareness at scale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07680" y="1072896"/>
            <a:ext cx="3657600" cy="5547360"/>
          </a:xfrm>
          <a:prstGeom prst="rect">
            <a:avLst/>
          </a:prstGeom>
          <a:solidFill>
            <a:srgbClr val="FAECE7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107680" y="1072896"/>
            <a:ext cx="3657600" cy="877824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29600" y="1097280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3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29600" y="141427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Chain Blockchain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0" y="1780032"/>
            <a:ext cx="34137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26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strategic</a:t>
            </a:r>
            <a:endParaRPr lang="en-US" sz="1267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9600" y="221894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VE agreement tokenized on internal ledger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29600" y="288950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Changes &amp; acceptances are auditable transactions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0" y="356006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 tokenized SVM (IP Priority 7)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423062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Build Option 2 first, add ledger as Phase 2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0" y="4901184"/>
            <a:ext cx="34137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333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for: highest IP value &amp; ecosystem scale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3733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Next Steps</a:t>
            </a:r>
            <a:endParaRPr lang="en-US" sz="3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87680" y="1036320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needed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87680" y="14874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service attribute list (name, customer, %FTE, importance, quality, SVM)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215798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 frequency rules — cadence and exception conditions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7680" y="282854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Escalation rules — what triggers human Talent involvement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7680" y="349910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Negotiation rule set — permissible solution types per agent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7680" y="416966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downstream awareness scope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7920" y="1036320"/>
            <a:ext cx="53644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733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Clarifying questions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0" y="148742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Service frequency: calendar cadence, trigger-based, or both?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0" y="215798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Agent autonomy: what can supplier agent agree to independently?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17920" y="282854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External partner protocol: same as internal or restricted?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17920" y="349910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Multi-service awareness in negotiation — include or scope later?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217920" y="4169664"/>
            <a:ext cx="5486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SVM currency: show numerically now or future layer?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6156960"/>
            <a:ext cx="11216640" cy="512064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615696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Next Step: Initiate as a Cowork / Claude Code project after clarifying questions answered. Use Login Prototype as design reference.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pPr defTabSz="1219170"/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584960"/>
            <a:ext cx="10363200" cy="1950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AI Agent Layer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45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New Hybrid Workforce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3779520"/>
            <a:ext cx="1036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2133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SMMS · Talent+AI · Value Exchange · HumanCentric Labs</a:t>
            </a:r>
            <a:endParaRPr lang="en-US" sz="21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5974080"/>
            <a:ext cx="103632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467" dirty="0">
                <a:solidFill>
                  <a:srgbClr val="709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ATTORNEY-CLIENT PRIVILEGED  |  April 16, 2026</a:t>
            </a:r>
            <a:endParaRPr lang="en-US" sz="1467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D0232-7C63-4424-964B-1699C54BA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6950" y="0"/>
            <a:ext cx="631810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5A57EF-53A3-C20A-2AA2-BB8BA883FD93}"/>
              </a:ext>
            </a:extLst>
          </p:cNvPr>
          <p:cNvSpPr txBox="1"/>
          <p:nvPr/>
        </p:nvSpPr>
        <p:spPr>
          <a:xfrm>
            <a:off x="2008095" y="534621"/>
            <a:ext cx="1734264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467" dirty="0">
                <a:solidFill>
                  <a:prstClr val="black"/>
                </a:solidFill>
                <a:latin typeface="Calibri" panose="020F0502020204030204"/>
              </a:rPr>
              <a:t>Talent Continuous Improvement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D1DF59-2A2A-FD09-1F80-6DC203EA822F}"/>
              </a:ext>
            </a:extLst>
          </p:cNvPr>
          <p:cNvSpPr txBox="1"/>
          <p:nvPr/>
        </p:nvSpPr>
        <p:spPr>
          <a:xfrm>
            <a:off x="2008095" y="4056664"/>
            <a:ext cx="1734264" cy="543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467" dirty="0">
                <a:solidFill>
                  <a:prstClr val="black"/>
                </a:solidFill>
                <a:latin typeface="Calibri" panose="020F0502020204030204"/>
              </a:rPr>
              <a:t>Talent and Agent Decision Making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384B38-B0F2-9847-16C6-AA8DBEE2B36D}"/>
              </a:ext>
            </a:extLst>
          </p:cNvPr>
          <p:cNvSpPr txBox="1"/>
          <p:nvPr/>
        </p:nvSpPr>
        <p:spPr>
          <a:xfrm>
            <a:off x="2008095" y="2452526"/>
            <a:ext cx="1734264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/>
            <a:r>
              <a:rPr lang="en-US" sz="1467" dirty="0">
                <a:solidFill>
                  <a:prstClr val="black"/>
                </a:solidFill>
                <a:latin typeface="Calibri" panose="020F0502020204030204"/>
              </a:rPr>
              <a:t>Coaching/Training </a:t>
            </a:r>
          </a:p>
        </p:txBody>
      </p:sp>
    </p:spTree>
    <p:extLst>
      <p:ext uri="{BB962C8B-B14F-4D97-AF65-F5344CB8AC3E}">
        <p14:creationId xmlns:p14="http://schemas.microsoft.com/office/powerpoint/2010/main" val="247023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936</Words>
  <Application>Microsoft Office PowerPoint</Application>
  <PresentationFormat>Widescreen</PresentationFormat>
  <Paragraphs>177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Poppins ExtraLight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Grove</dc:creator>
  <cp:lastModifiedBy>Michael Grove</cp:lastModifiedBy>
  <cp:revision>1</cp:revision>
  <dcterms:created xsi:type="dcterms:W3CDTF">2026-08-14T23:09:42Z</dcterms:created>
  <dcterms:modified xsi:type="dcterms:W3CDTF">2026-08-14T23:14:34Z</dcterms:modified>
</cp:coreProperties>
</file>